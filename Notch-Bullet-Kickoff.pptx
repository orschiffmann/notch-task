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0469880" y="1051560"/>
            <a:ext cx="457200" cy="4572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11210544" y="1883664"/>
            <a:ext cx="256032" cy="256032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5" name="Shape 3"/>
          <p:cNvSpPr/>
          <p:nvPr/>
        </p:nvSpPr>
        <p:spPr>
          <a:xfrm rot="2700000">
            <a:off x="10158984" y="2203704"/>
            <a:ext cx="164592" cy="164592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640080" y="85039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× BULLET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Kickoff Plan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up Notch's first on-premise AI deployment in insurance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4754880" cy="0"/>
          </a:xfrm>
          <a:prstGeom prst="line">
            <a:avLst/>
          </a:prstGeom>
          <a:noFill/>
          <a:ln w="12700">
            <a:solidFill>
              <a:srgbClr val="2738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(carrier + investor)     </a:t>
            </a:r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CHANNEL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MVP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Nov 2025  →  end Q1 2026     </a:t>
            </a:r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binary-only · self-hosted LLM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carries outsized weight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2212848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305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on-premise model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51560" y="244144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Binary-only, pull-based deployment is exactly what regulated industries demand. Get it right here, and it becomes the template.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3191256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108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large US enterprise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341985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reference in a Fortune-scale regulated buyer is the credential that opens the US enterprise market.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rot="2700000">
            <a:off x="658368" y="4169664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8736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playbook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051560" y="439826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Insurance-specific work - compliance, guardrails, data sensitivity - is built once and inherited by the next regulated customer.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2700000">
            <a:off x="658368" y="5148072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06577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also an investor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5376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here is visible to the people funding Notch's next round. Delivery is a commercial and an investor signal at once.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0" y="2148840"/>
            <a:ext cx="3749040" cy="3931920"/>
          </a:xfrm>
          <a:prstGeom prst="roundRect">
            <a:avLst>
              <a:gd name="adj" fmla="val 2195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WE DEFEND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26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70-73%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772400" y="34930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automation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0" y="39502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7772400" y="4517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headcount reduction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0" y="49743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7772400" y="55412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within a year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Bullet asked for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432304"/>
            <a:ext cx="402336" cy="40233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3225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deployment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94960" y="232257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environments (Dev / Staging / Production) on Bullet's own cloud. Notch never gets push access.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456432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334670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94960" y="334670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Voice, WhatsApp, mobile App, and Website - the App is Bullet's stated 2026 priority.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42816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480560"/>
            <a:ext cx="402336" cy="402336"/>
          </a:xfrm>
          <a:prstGeom prst="ellipse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3708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core features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94960" y="437083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replacement, FAQ, OTP, data integration, guardrails, Glassix, scraping, deeplinks, prompt safety.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266944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504688"/>
            <a:ext cx="402336" cy="40233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5394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timeline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94960" y="5394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1 Nov 2025, App targeted for the end-of-Q1-2026 deadline. Five months, on-prem, from scratch.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projects, not one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people, different risks, different reasons to fail. They run in parallel and meet at exactly one handoff.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4206240" cy="2286000"/>
          </a:xfrm>
          <a:prstGeom prst="roundRect">
            <a:avLst>
              <a:gd name="adj" fmla="val 3600"/>
            </a:avLst>
          </a:prstGeom>
          <a:solidFill>
            <a:srgbClr val="EFF4FE"/>
          </a:solidFill>
          <a:ln w="12700">
            <a:solidFill>
              <a:srgbClr val="C7D7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+ binary pipeline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Staging → Production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connectivity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45375" y="2651760"/>
            <a:ext cx="4206240" cy="2286000"/>
          </a:xfrm>
          <a:prstGeom prst="roundRect">
            <a:avLst>
              <a:gd name="adj" fmla="val 3600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45375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PROJECT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19695" y="333756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flows on Notch platform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19695" y="384048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Mock-first, then real integration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19695" y="434340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binaries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21528" y="34747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3352648" y="5257800"/>
            <a:ext cx="5486400" cy="868680"/>
          </a:xfrm>
          <a:prstGeom prst="roundRect">
            <a:avLst>
              <a:gd name="adj" fmla="val 9474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52648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convergence point
</a:t>
            </a:r>
            <a:pPr algn="ctr" indent="0" marL="0">
              <a:buNone/>
            </a:pPr>
            <a:r>
              <a:rPr lang="en-US" sz="11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binary, pulled into Bullet's environment through the DevOps pipeline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channel at a time, deliberately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1348" y="2578608"/>
            <a:ext cx="603504" cy="603504"/>
          </a:xfrm>
          <a:prstGeom prst="ellipse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1641348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725930" y="3749040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725930" y="3749040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Glassix human fallback - the only safe place to find failure modes.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547872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49140" y="2578608"/>
            <a:ext cx="603504" cy="60350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4549140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47872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39412" y="37490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4439412" y="3749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76472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Bullet's 2026 goal. Reuses the proven core rather than discovering it.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55664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56932" y="2578608"/>
            <a:ext cx="603504" cy="6035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7456932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55664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580376" y="3749040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27" name="Text 25"/>
          <p:cNvSpPr/>
          <p:nvPr/>
        </p:nvSpPr>
        <p:spPr>
          <a:xfrm>
            <a:off x="7580376" y="374904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684264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hard part - real-time speech - once text is stable.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79992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363456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364724" y="2578608"/>
            <a:ext cx="603504" cy="60350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4724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363456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488168" y="3749040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35" name="Text 33"/>
          <p:cNvSpPr/>
          <p:nvPr/>
        </p:nvSpPr>
        <p:spPr>
          <a:xfrm>
            <a:off x="10488168" y="374904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592056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marginal value, cheapest once the core is fully proven.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5440680"/>
            <a:ext cx="10911535" cy="685800"/>
          </a:xfrm>
          <a:prstGeom prst="roundRect">
            <a:avLst>
              <a:gd name="adj" fmla="val 12000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reframe:  </a:t>
            </a:r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is not a detour from the App deadline - it is the first recoverable increment of the exact core the App depends on.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committed, the rest sequenced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7532697" cy="1645920"/>
          </a:xfrm>
          <a:prstGeom prst="rect">
            <a:avLst/>
          </a:prstGeom>
          <a:solidFill>
            <a:srgbClr val="F0FDF7"/>
          </a:solidFill>
          <a:ln/>
        </p:spPr>
      </p:sp>
      <p:sp>
        <p:nvSpPr>
          <p:cNvPr id="7" name="Shape 5"/>
          <p:cNvSpPr/>
          <p:nvPr/>
        </p:nvSpPr>
        <p:spPr>
          <a:xfrm>
            <a:off x="8355657" y="2468880"/>
            <a:ext cx="3013079" cy="16459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291840"/>
            <a:ext cx="10545775" cy="0"/>
          </a:xfrm>
          <a:prstGeom prst="line">
            <a:avLst/>
          </a:prstGeom>
          <a:noFill/>
          <a:ln w="19050">
            <a:solidFill>
              <a:srgbClr val="C9CE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29499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5179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36039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1719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42578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8258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9117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4797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55657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81337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862196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7876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55657" y="2377440"/>
            <a:ext cx="0" cy="182880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7258377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deadline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2057400"/>
            <a:ext cx="301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55657" y="2057400"/>
            <a:ext cx="301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2700000">
            <a:off x="2210627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8" name="Text 26"/>
          <p:cNvSpPr/>
          <p:nvPr/>
        </p:nvSpPr>
        <p:spPr>
          <a:xfrm>
            <a:off x="1689419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89419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rot="2700000">
            <a:off x="4169128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1" name="Text 29"/>
          <p:cNvSpPr/>
          <p:nvPr/>
        </p:nvSpPr>
        <p:spPr>
          <a:xfrm>
            <a:off x="364792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Full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4792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 rot="2700000">
            <a:off x="7483515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4" name="Text 32"/>
          <p:cNvSpPr/>
          <p:nvPr/>
        </p:nvSpPr>
        <p:spPr>
          <a:xfrm>
            <a:off x="6962307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962307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rot="2700000">
            <a:off x="9140708" y="3172968"/>
            <a:ext cx="237744" cy="23774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37" name="Text 35"/>
          <p:cNvSpPr/>
          <p:nvPr/>
        </p:nvSpPr>
        <p:spPr>
          <a:xfrm>
            <a:off x="861950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1950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 rot="2700000">
            <a:off x="10345940" y="3172968"/>
            <a:ext cx="237744" cy="23774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0" name="Text 38"/>
          <p:cNvSpPr/>
          <p:nvPr/>
        </p:nvSpPr>
        <p:spPr>
          <a:xfrm>
            <a:off x="9824732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824732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080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0FDF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· by end Q1 2026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14400" y="4709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V0 pilot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(Dec)  ·  </a:t>
            </a:r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Full + OTP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(Jan)  ·  </a:t>
            </a:r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(Mar)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440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- Bullet's priority - lands just inside the deadline.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202375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76695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· into Q2 2026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76695" y="4709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(Apr)  ·  </a:t>
            </a:r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(May)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476695" y="51206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 follows each go-live immediately. Optimization starts once a channel is stable. We protect the must-haves rather than force all five into five months.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&amp; DOD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go live fast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flows (A, B, C, D) are live in V0. The only change in V1 is Flow B coverage: one intent in V0, all remaining intents in V1.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120640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V0 - PILOT · ALL FOUR FLOWS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3154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Routing &amp; Handoff - IVR + Glassix fallback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36118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6118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ONE intent only - proves pipeline, first containment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40690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OTP + identity - customer identified from day 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45262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45262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Safety &amp; Compliance baseline - always 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560320"/>
            <a:ext cx="5120640" cy="2560320"/>
          </a:xfrm>
          <a:prstGeom prst="roundRect">
            <a:avLst>
              <a:gd name="adj" fmla="val 3214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V1 - WHATSAPP FULL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V0 unchanged + Flow B expanded (all remaining top intents). This is the only difference.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5508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V2 - WHATSAPP COMPLETE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4023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KB: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intents, not just top-N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4165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+ prompt injection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480974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Bullet's web content auto-indexed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532120"/>
            <a:ext cx="64008" cy="73152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68680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resolved E2E (calibrate target at kickoff)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68698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8698" y="5532120"/>
            <a:ext cx="64008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4597298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quality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597298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handed off with context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97317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7317" y="5532120"/>
            <a:ext cx="64008" cy="7315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8325917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25917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pass rate - zero PII tolerance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Discover, mock, build, integrate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we don't know is Bullet-specific. The expensive, access-dependent step is deliberately last.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68680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Swagger + API comprehension Q&amp;A with Bullet's engineers.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547872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76472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822192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76472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776472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accurate mocks from understood contracts. A deliverable in itself.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55664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84264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729984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684264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84264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built on Notch's platform - no Bullet network needed yet.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79992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363456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92056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6377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592056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592056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mocks for real APIs once the logic is already mature.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05840" y="516636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mock-first is the whole game.  </a:t>
            </a:r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buildable without Bullet is built against mocks - fast and parallel. Bullet's access timeline becomes a constraint on the last mile, not a blocker on the whole build.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need on both sides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120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48840"/>
            <a:ext cx="5212080" cy="54864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TEAM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rot="2700000">
            <a:off x="982980" y="2839212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delivery lead, dependency tracker, external sync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rot="2700000">
            <a:off x="982980" y="3314700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264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Manager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business relationship, scope decisions (advisory)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rot="2700000">
            <a:off x="982980" y="3790188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37398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requirements, backlog, acceptance criteria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2700000">
            <a:off x="982980" y="4265676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2153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Infra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owns the on-prem foundation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 rot="2700000">
            <a:off x="982980" y="4741164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Platform Developers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core build capacity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 rot="2700000">
            <a:off x="982980" y="5216652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5166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Prompt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agents, guardrails, tuning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2700000">
            <a:off x="982980" y="5692140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56418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Test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owns the testing funnel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39535" y="2148840"/>
            <a:ext cx="52120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39535" y="2148840"/>
            <a:ext cx="5212080" cy="54864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5" name="Text 23"/>
          <p:cNvSpPr/>
          <p:nvPr/>
        </p:nvSpPr>
        <p:spPr>
          <a:xfrm>
            <a:off x="6659575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TEAM  ·  the critical path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rot="2700000">
            <a:off x="6682435" y="2839212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7" name="Text 25"/>
          <p:cNvSpPr/>
          <p:nvPr/>
        </p:nvSpPr>
        <p:spPr>
          <a:xfrm>
            <a:off x="6979615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single coordination point - the must-have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 rot="2700000">
            <a:off x="6682435" y="3314700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9" name="Text 27"/>
          <p:cNvSpPr/>
          <p:nvPr/>
        </p:nvSpPr>
        <p:spPr>
          <a:xfrm>
            <a:off x="6979615" y="3264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Cloud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provisions envs, access, GPU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rot="2700000">
            <a:off x="6682435" y="3790188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1" name="Text 29"/>
          <p:cNvSpPr/>
          <p:nvPr/>
        </p:nvSpPr>
        <p:spPr>
          <a:xfrm>
            <a:off x="6979615" y="37398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Backend owners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Swagger + comprehension Q&amp;A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 rot="2700000">
            <a:off x="6682435" y="4265676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3" name="Text 31"/>
          <p:cNvSpPr/>
          <p:nvPr/>
        </p:nvSpPr>
        <p:spPr>
          <a:xfrm>
            <a:off x="6979615" y="42153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/ Compliance lead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scanning, pentest, prod access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 rot="2700000">
            <a:off x="6682435" y="4741164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5" name="Text 33"/>
          <p:cNvSpPr/>
          <p:nvPr/>
        </p:nvSpPr>
        <p:spPr>
          <a:xfrm>
            <a:off x="6979615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top intents, UAT, AI response correctness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ROLLOUT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gates, then Hyper Care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channel passes the same funnel, ordered by cost of failure - then a post-launch tail.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testing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48256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48256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2048256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093976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UAT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28416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56432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56432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3456432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02152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+ load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36592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64608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64608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4864608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910328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validation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44768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72784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2834640"/>
            <a:ext cx="1298448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18504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52944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80960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0" y="2834640"/>
            <a:ext cx="1298448" cy="9144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0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726680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961120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089136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89136" y="2834640"/>
            <a:ext cx="1298448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9089136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134856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369296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497312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97312" y="2834640"/>
            <a:ext cx="1298448" cy="914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97312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543032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" y="4251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" y="4434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60120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immediately after go-live - part of the delivery sequence, not deferred. 2-3 intensive weeks: elevated monitoring, a dedicated responder, a fast incident loop - before the channel is treated as steady-state.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202375" y="4251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0FDF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22415" y="4434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522415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once Hyper Care is complete and the channel is stable. Tuning prompts and guardrails against real conversations, expanding intent coverage. Starts after all preceding phases - unless Bullet's priorities direct otherwise.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Scored, not just listed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is typed and scored on a 5×5 matrix (impact × probability), ranked by score.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697480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8" name="Shape 6"/>
          <p:cNvSpPr/>
          <p:nvPr/>
        </p:nvSpPr>
        <p:spPr>
          <a:xfrm>
            <a:off x="1664208" y="2697480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9" name="Shape 7"/>
          <p:cNvSpPr/>
          <p:nvPr/>
        </p:nvSpPr>
        <p:spPr>
          <a:xfrm>
            <a:off x="2231136" y="2697480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10" name="Shape 8"/>
          <p:cNvSpPr/>
          <p:nvPr/>
        </p:nvSpPr>
        <p:spPr>
          <a:xfrm>
            <a:off x="2340864" y="2807208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11" name="Text 9"/>
          <p:cNvSpPr/>
          <p:nvPr/>
        </p:nvSpPr>
        <p:spPr>
          <a:xfrm>
            <a:off x="2340864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269748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3" name="Shape 11"/>
          <p:cNvSpPr/>
          <p:nvPr/>
        </p:nvSpPr>
        <p:spPr>
          <a:xfrm>
            <a:off x="3364992" y="269748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3264408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3264408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16" name="Shape 14"/>
          <p:cNvSpPr/>
          <p:nvPr/>
        </p:nvSpPr>
        <p:spPr>
          <a:xfrm>
            <a:off x="2231136" y="3264408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17" name="Shape 15"/>
          <p:cNvSpPr/>
          <p:nvPr/>
        </p:nvSpPr>
        <p:spPr>
          <a:xfrm>
            <a:off x="2340864" y="3374136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18" name="Text 16"/>
          <p:cNvSpPr/>
          <p:nvPr/>
        </p:nvSpPr>
        <p:spPr>
          <a:xfrm>
            <a:off x="2340864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98064" y="3264408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0" name="Shape 18"/>
          <p:cNvSpPr/>
          <p:nvPr/>
        </p:nvSpPr>
        <p:spPr>
          <a:xfrm>
            <a:off x="2907792" y="3374136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21" name="Text 19"/>
          <p:cNvSpPr/>
          <p:nvPr/>
        </p:nvSpPr>
        <p:spPr>
          <a:xfrm>
            <a:off x="2907792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64992" y="3264408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" y="3831336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24" name="Shape 22"/>
          <p:cNvSpPr/>
          <p:nvPr/>
        </p:nvSpPr>
        <p:spPr>
          <a:xfrm>
            <a:off x="1664208" y="3831336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25" name="Shape 23"/>
          <p:cNvSpPr/>
          <p:nvPr/>
        </p:nvSpPr>
        <p:spPr>
          <a:xfrm>
            <a:off x="2231136" y="3831336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26" name="Shape 24"/>
          <p:cNvSpPr/>
          <p:nvPr/>
        </p:nvSpPr>
        <p:spPr>
          <a:xfrm>
            <a:off x="2798064" y="3831336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27" name="Shape 25"/>
          <p:cNvSpPr/>
          <p:nvPr/>
        </p:nvSpPr>
        <p:spPr>
          <a:xfrm>
            <a:off x="3364992" y="3831336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97280" y="4398264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29" name="Shape 27"/>
          <p:cNvSpPr/>
          <p:nvPr/>
        </p:nvSpPr>
        <p:spPr>
          <a:xfrm>
            <a:off x="1664208" y="4398264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0" name="Shape 28"/>
          <p:cNvSpPr/>
          <p:nvPr/>
        </p:nvSpPr>
        <p:spPr>
          <a:xfrm>
            <a:off x="1773936" y="4507992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31" name="Text 29"/>
          <p:cNvSpPr/>
          <p:nvPr/>
        </p:nvSpPr>
        <p:spPr>
          <a:xfrm>
            <a:off x="177393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231136" y="4398264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3" name="Shape 31"/>
          <p:cNvSpPr/>
          <p:nvPr/>
        </p:nvSpPr>
        <p:spPr>
          <a:xfrm>
            <a:off x="2798064" y="4398264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07792" y="4507992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35" name="Text 33"/>
          <p:cNvSpPr/>
          <p:nvPr/>
        </p:nvSpPr>
        <p:spPr>
          <a:xfrm>
            <a:off x="2907792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364992" y="4398264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97280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8" name="Shape 36"/>
          <p:cNvSpPr/>
          <p:nvPr/>
        </p:nvSpPr>
        <p:spPr>
          <a:xfrm>
            <a:off x="1664208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9" name="Shape 37"/>
          <p:cNvSpPr/>
          <p:nvPr/>
        </p:nvSpPr>
        <p:spPr>
          <a:xfrm>
            <a:off x="2231136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0" name="Shape 38"/>
          <p:cNvSpPr/>
          <p:nvPr/>
        </p:nvSpPr>
        <p:spPr>
          <a:xfrm>
            <a:off x="2798064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1" name="Shape 39"/>
          <p:cNvSpPr/>
          <p:nvPr/>
        </p:nvSpPr>
        <p:spPr>
          <a:xfrm>
            <a:off x="3364992" y="4965192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42" name="Text 40"/>
          <p:cNvSpPr/>
          <p:nvPr/>
        </p:nvSpPr>
        <p:spPr>
          <a:xfrm rot="16200000">
            <a:off x="32004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97280" y="5577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→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0" y="2734056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29200" y="2697480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access refused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029200" y="2916936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317175" y="2752344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49" name="Text 47"/>
          <p:cNvSpPr/>
          <p:nvPr/>
        </p:nvSpPr>
        <p:spPr>
          <a:xfrm>
            <a:off x="10317175" y="2752344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Critical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0" y="3337560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029200" y="3300984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 below target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029200" y="3520440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317175" y="3355848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55" name="Text 53"/>
          <p:cNvSpPr/>
          <p:nvPr/>
        </p:nvSpPr>
        <p:spPr>
          <a:xfrm>
            <a:off x="10317175" y="3355848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High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572000" y="3941064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029200" y="3904488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contention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029200" y="4123944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Resourcing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317175" y="3959352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10317175" y="3959352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High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572000" y="4544568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029200" y="4507992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fails security scan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029200" y="4727448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10317175" y="4562856"/>
            <a:ext cx="978408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17175" y="4562856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Medium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572000" y="5148072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0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5029200" y="5111496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ownership unresolved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029200" y="5330952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0317175" y="5166360"/>
            <a:ext cx="74523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73" name="Text 71"/>
          <p:cNvSpPr/>
          <p:nvPr/>
        </p:nvSpPr>
        <p:spPr>
          <a:xfrm>
            <a:off x="10317175" y="5166360"/>
            <a:ext cx="7452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(what Bullet owes us) are tracked separately - they become risks only when a due date is missed.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kickoff meeting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sequencing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scope vs the Q1 2026 deadline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model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critical decisions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&amp; discovery sign-off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three weeks &amp; owners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DECISIONS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vs deadline (all 5 channels, or App?)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Build/buy boundary &amp; vendors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ownership (recommend Bullet)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access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QUESTIONS, BY PRIORITY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2331720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2331720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BLOCKING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72200" y="26791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82512" y="26791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2026 deadline immovable - all 5 channels or just App?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29077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82512" y="29077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self-hosted - does any data leave?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72200" y="31363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82512" y="3136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documented (Swagger) and reachable?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172200" y="33649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82512" y="33649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Bullet Owner (single coordination point)?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72200" y="35935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82512" y="3593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scanning toolchain?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3941064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3941064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HIGH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42885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82512" y="42885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3rd-party tools does Bullet already run?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172200" y="45171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82512" y="45171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tool - who owns the subscription?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172200" y="47457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82512" y="47457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intents / volumes for the MVP?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72200" y="49743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82512" y="49743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capacity for the self-hosted LLM?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26480" y="5321808"/>
            <a:ext cx="1522476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6126480" y="5321808"/>
            <a:ext cx="1522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BEFORE PHASE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56692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82512" y="5669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API docs for Policy &amp; Claims endpoints?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172200" y="58978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82512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owner &amp; vendor?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172200" y="61264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82512" y="6126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PVT feasible per channel?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0629900" y="1120140"/>
            <a:ext cx="502920" cy="50292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11292840" y="2057400"/>
            <a:ext cx="274320" cy="274320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WINNING LOOKS LIKE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fast, recoverable, reusable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2700000">
            <a:off x="649224" y="295351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8803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live fast and safely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MVP recoverable behind a Glassix safety net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 rot="2700000">
            <a:off x="649224" y="373075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657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live on its priority timeline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by the end-of-Q1-2026 deadline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 rot="2700000">
            <a:off x="649224" y="450799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434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architecture proven reusable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next regulated customer inherits it, integration layer swapped not rebuilt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577840"/>
            <a:ext cx="10911535" cy="0"/>
          </a:xfrm>
          <a:prstGeom prst="line">
            <a:avLst/>
          </a:prstGeom>
          <a:noFill/>
          <a:ln w="12700">
            <a:solidFill>
              <a:srgbClr val="2738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</a:t>
            </a:r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pre-requisites this week  ·  lock the critical decisions at kickoff  ·  start the build on day one.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Notch x Bullet - Project Kickoff Plan</dc:title>
  <dc:subject>PptxGenJS Presentation</dc:subject>
  <dc:creator>Notch</dc:creator>
  <cp:lastModifiedBy>Notch</cp:lastModifiedBy>
  <cp:revision>1</cp:revision>
  <dcterms:created xsi:type="dcterms:W3CDTF">2026-06-22T12:30:08Z</dcterms:created>
  <dcterms:modified xsi:type="dcterms:W3CDTF">2026-06-22T12:30:08Z</dcterms:modified>
</cp:coreProperties>
</file>