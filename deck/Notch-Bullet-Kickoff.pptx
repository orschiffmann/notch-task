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5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06A22"/>
          </a:solidFill>
          <a:ln/>
        </p:spPr>
      </p:sp>
      <p:sp>
        <p:nvSpPr>
          <p:cNvPr id="3" name="Shape 1"/>
          <p:cNvSpPr/>
          <p:nvPr/>
        </p:nvSpPr>
        <p:spPr>
          <a:xfrm rot="2700000">
            <a:off x="10469880" y="1051560"/>
            <a:ext cx="457200" cy="457200"/>
          </a:xfrm>
          <a:prstGeom prst="rect">
            <a:avLst/>
          </a:prstGeom>
          <a:solidFill>
            <a:srgbClr val="F06A22"/>
          </a:solidFill>
          <a:ln/>
        </p:spPr>
      </p:sp>
      <p:sp>
        <p:nvSpPr>
          <p:cNvPr id="4" name="Shape 2"/>
          <p:cNvSpPr/>
          <p:nvPr/>
        </p:nvSpPr>
        <p:spPr>
          <a:xfrm rot="2700000">
            <a:off x="11210544" y="1883664"/>
            <a:ext cx="256032" cy="256032"/>
          </a:xfrm>
          <a:prstGeom prst="rect">
            <a:avLst/>
          </a:prstGeom>
          <a:solidFill>
            <a:srgbClr val="27384D"/>
          </a:solidFill>
          <a:ln/>
        </p:spPr>
      </p:sp>
      <p:sp>
        <p:nvSpPr>
          <p:cNvPr id="5" name="Shape 3"/>
          <p:cNvSpPr/>
          <p:nvPr/>
        </p:nvSpPr>
        <p:spPr>
          <a:xfrm rot="2700000">
            <a:off x="10158984" y="2203704"/>
            <a:ext cx="164592" cy="164592"/>
          </a:xfrm>
          <a:prstGeom prst="rect">
            <a:avLst/>
          </a:prstGeom>
          <a:solidFill>
            <a:srgbClr val="27384D"/>
          </a:solidFill>
          <a:ln/>
        </p:spPr>
      </p:sp>
      <p:sp>
        <p:nvSpPr>
          <p:cNvPr id="6" name="Shape 4"/>
          <p:cNvSpPr/>
          <p:nvPr/>
        </p:nvSpPr>
        <p:spPr>
          <a:xfrm rot="2700000">
            <a:off x="640080" y="850392"/>
            <a:ext cx="219456" cy="219456"/>
          </a:xfrm>
          <a:prstGeom prst="rect">
            <a:avLst/>
          </a:prstGeom>
          <a:solidFill>
            <a:srgbClr val="F06A22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822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AEB8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NOTCH × BULLET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286000"/>
            <a:ext cx="9601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Kickoff Plan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640080" y="370332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Standing up Notch's first on-premise AI deployment in insurance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40080" y="5029200"/>
            <a:ext cx="4754880" cy="0"/>
          </a:xfrm>
          <a:prstGeom prst="line">
            <a:avLst/>
          </a:prstGeom>
          <a:noFill/>
          <a:ln w="12700">
            <a:solidFill>
              <a:srgbClr val="2738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52120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 </a:t>
            </a:r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 (carrier + investor)     </a:t>
            </a:r>
            <a:pPr indent="0" marL="0">
              <a:buNone/>
            </a:pPr>
            <a:r>
              <a:rPr lang="en-US" sz="1250" b="1" spc="2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CHANNEL  </a:t>
            </a:r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MVP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40080" y="56235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 </a:t>
            </a:r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Nov 2025  →  end Q1 2026     </a:t>
            </a:r>
            <a:pPr indent="0" marL="0">
              <a:buNone/>
            </a:pPr>
            <a:r>
              <a:rPr lang="en-US" sz="1250" b="1" spc="2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 </a:t>
            </a:r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 · binary-only · self-hosted LLM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402336" cy="402336"/>
          </a:xfrm>
          <a:prstGeom prst="roundRect">
            <a:avLst>
              <a:gd name="adj" fmla="val 15909"/>
            </a:avLst>
          </a:prstGeom>
          <a:solidFill>
            <a:srgbClr val="F06A2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70432" y="50292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engagement carries outsized weight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 rot="2700000">
            <a:off x="658368" y="2212848"/>
            <a:ext cx="201168" cy="201168"/>
          </a:xfrm>
          <a:prstGeom prst="rect">
            <a:avLst/>
          </a:prstGeom>
          <a:solidFill>
            <a:srgbClr val="F06A22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130552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Proves the on-premise model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1051560" y="2441448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Binary-only, pull-based deployment is exactly what regulated industries demand. Get it right here, and it becomes the template.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 rot="2700000">
            <a:off x="658368" y="3191256"/>
            <a:ext cx="201168" cy="201168"/>
          </a:xfrm>
          <a:prstGeom prst="rect">
            <a:avLst/>
          </a:prstGeom>
          <a:solidFill>
            <a:srgbClr val="F06A22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108960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large US enterprise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1051560" y="3419856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reference in a Fortune-scale regulated buyer is the credential that opens the US enterprise market.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 rot="2700000">
            <a:off x="658368" y="4169664"/>
            <a:ext cx="201168" cy="201168"/>
          </a:xfrm>
          <a:prstGeom prst="rect">
            <a:avLst/>
          </a:prstGeom>
          <a:solidFill>
            <a:srgbClr val="F06A22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087368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reusable playbook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1051560" y="4398264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Insurance-specific work - compliance, guardrails, data sensitivity - is built once and inherited by the next regulated customer.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 rot="2700000">
            <a:off x="658368" y="5148072"/>
            <a:ext cx="201168" cy="201168"/>
          </a:xfrm>
          <a:prstGeom prst="rect">
            <a:avLst/>
          </a:prstGeom>
          <a:solidFill>
            <a:srgbClr val="F06A22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065776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is also an investor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1051560" y="5376672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here is visible to the people funding Notch's next round. Delivery is a commercial and an investor signal at once.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7772400" y="2148840"/>
            <a:ext cx="3749040" cy="3931920"/>
          </a:xfrm>
          <a:prstGeom prst="roundRect">
            <a:avLst>
              <a:gd name="adj" fmla="val 2195"/>
            </a:avLst>
          </a:prstGeom>
          <a:solidFill>
            <a:srgbClr val="0E1526"/>
          </a:solidFill>
          <a:ln/>
          <a:effectLst>
            <a:outerShdw sx="100000" sy="100000" kx="0" ky="0" algn="bl" rotWithShape="0" blurRad="88900" dist="38100" dir="810000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772400" y="24231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AEB8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NOTCH TARGET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772400" y="2926080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0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7772400" y="349300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AD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automation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772400" y="3950208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0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~50%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7772400" y="451713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AD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headcount reduction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7772400" y="4974336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0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200%</a:t>
            </a:r>
            <a:endParaRPr lang="en-US" sz="4000" dirty="0"/>
          </a:p>
        </p:txBody>
      </p:sp>
      <p:sp>
        <p:nvSpPr>
          <p:cNvPr id="25" name="Text 23"/>
          <p:cNvSpPr/>
          <p:nvPr/>
        </p:nvSpPr>
        <p:spPr>
          <a:xfrm>
            <a:off x="7772400" y="554126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AD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within a year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Notch </a:t>
            </a:r>
            <a:pPr indent="0" marL="0">
              <a:buNone/>
            </a:pPr>
            <a:r>
              <a:rPr lang="en-US" sz="950" b="1" dirty="0">
                <a:solidFill>
                  <a:srgbClr val="F0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</a:t>
            </a:r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10911535" y="6400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402336" cy="402336"/>
          </a:xfrm>
          <a:prstGeom prst="roundRect">
            <a:avLst>
              <a:gd name="adj" fmla="val 15909"/>
            </a:avLst>
          </a:prstGeom>
          <a:solidFill>
            <a:srgbClr val="F06A2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70432" y="50292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Bullet asked for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640080" y="2194560"/>
            <a:ext cx="10911535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96112" y="2432304"/>
            <a:ext cx="402336" cy="402336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8" name="Text 6"/>
          <p:cNvSpPr/>
          <p:nvPr/>
        </p:nvSpPr>
        <p:spPr>
          <a:xfrm>
            <a:off x="1554480" y="2322576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On-premise deployment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394960" y="2322576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environments (Dev / Staging / Production) on Bullet's own cloud. Notch never gets push access.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3218688"/>
            <a:ext cx="10911535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96112" y="3456432"/>
            <a:ext cx="402336" cy="402336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2" name="Text 10"/>
          <p:cNvSpPr/>
          <p:nvPr/>
        </p:nvSpPr>
        <p:spPr>
          <a:xfrm>
            <a:off x="1554480" y="3346704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Multi-channel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394960" y="3346704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Voice, WhatsApp, mobile App, and Website - the App is Bullet's stated 2026 priority.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242816"/>
            <a:ext cx="10911535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96112" y="4480560"/>
            <a:ext cx="402336" cy="402336"/>
          </a:xfrm>
          <a:prstGeom prst="ellipse">
            <a:avLst/>
          </a:prstGeom>
          <a:solidFill>
            <a:srgbClr val="F06A22"/>
          </a:solidFill>
          <a:ln/>
        </p:spPr>
      </p:sp>
      <p:sp>
        <p:nvSpPr>
          <p:cNvPr id="16" name="Text 14"/>
          <p:cNvSpPr/>
          <p:nvPr/>
        </p:nvSpPr>
        <p:spPr>
          <a:xfrm>
            <a:off x="1554480" y="4370832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core features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394960" y="4370832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IVR replacement, FAQ, OTP, data integration, guardrails, Glassix, scraping, deeplinks, prompt safety.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5266944"/>
            <a:ext cx="10911535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96112" y="5504688"/>
            <a:ext cx="402336" cy="402336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8"/>
          <p:cNvSpPr/>
          <p:nvPr/>
        </p:nvSpPr>
        <p:spPr>
          <a:xfrm>
            <a:off x="1554480" y="539496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Aggressive timeline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394960" y="539496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Kickoff 1 Nov 2025, App targeted for the end-of-Q1-2026 deadline. Five months, on-prem, from scratch.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Notch </a:t>
            </a:r>
            <a:pPr indent="0" marL="0">
              <a:buNone/>
            </a:pPr>
            <a:r>
              <a:rPr lang="en-US" sz="950" b="1" dirty="0">
                <a:solidFill>
                  <a:srgbClr val="F0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</a:t>
            </a:r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0911535" y="6400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402336" cy="402336"/>
          </a:xfrm>
          <a:prstGeom prst="roundRect">
            <a:avLst>
              <a:gd name="adj" fmla="val 15909"/>
            </a:avLst>
          </a:prstGeom>
          <a:solidFill>
            <a:srgbClr val="F06A2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70432" y="50292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projects, not one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people, different risks, different reasons to fail. They run in parallel and meet at exactly one handoff.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651760"/>
            <a:ext cx="4206240" cy="2286000"/>
          </a:xfrm>
          <a:prstGeom prst="roundRect">
            <a:avLst>
              <a:gd name="adj" fmla="val 3600"/>
            </a:avLst>
          </a:prstGeom>
          <a:solidFill>
            <a:srgbClr val="EFF4FE"/>
          </a:solidFill>
          <a:ln w="12700">
            <a:solidFill>
              <a:srgbClr val="C7D7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85292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 PROJECT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3337560"/>
            <a:ext cx="3657600" cy="41148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Workshops + binary pipeline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914400" y="3840480"/>
            <a:ext cx="3657600" cy="41148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→ Staging → Production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914400" y="4343400"/>
            <a:ext cx="3657600" cy="41148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Per-channel connectivity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345375" y="2651760"/>
            <a:ext cx="4206240" cy="2286000"/>
          </a:xfrm>
          <a:prstGeom prst="roundRect">
            <a:avLst>
              <a:gd name="adj" fmla="val 3600"/>
            </a:avLst>
          </a:prstGeom>
          <a:solidFill>
            <a:srgbClr val="FFF4EE"/>
          </a:solidFill>
          <a:ln w="12700">
            <a:solidFill>
              <a:srgbClr val="FAD2B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45375" y="285292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PROJECT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619695" y="3337560"/>
            <a:ext cx="3657600" cy="41148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flows on Notch platform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619695" y="3840480"/>
            <a:ext cx="3657600" cy="41148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Mock-first, then real integration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619695" y="4343400"/>
            <a:ext cx="3657600" cy="41148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binaries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5821528" y="347472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∥</a:t>
            </a:r>
            <a:endParaRPr lang="en-US" sz="3000" dirty="0"/>
          </a:p>
        </p:txBody>
      </p:sp>
      <p:sp>
        <p:nvSpPr>
          <p:cNvPr id="18" name="Shape 16"/>
          <p:cNvSpPr/>
          <p:nvPr/>
        </p:nvSpPr>
        <p:spPr>
          <a:xfrm>
            <a:off x="3352648" y="5257800"/>
            <a:ext cx="5486400" cy="868680"/>
          </a:xfrm>
          <a:prstGeom prst="roundRect">
            <a:avLst>
              <a:gd name="adj" fmla="val 9474"/>
            </a:avLst>
          </a:prstGeom>
          <a:solidFill>
            <a:srgbClr val="0E1526"/>
          </a:solidFill>
          <a:ln/>
          <a:effectLst>
            <a:outerShdw sx="100000" sy="100000" kx="0" ky="0" algn="bl" rotWithShape="0" blurRad="88900" dist="38100" dir="810000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3352648" y="5257800"/>
            <a:ext cx="5486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convergence point
</a:t>
            </a:r>
            <a:pPr algn="ctr" indent="0" marL="0">
              <a:buNone/>
            </a:pPr>
            <a:r>
              <a:rPr lang="en-US" sz="1150" dirty="0">
                <a:solidFill>
                  <a:srgbClr val="CAD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binary, pulled into Bullet's environment through the DevOps pipeline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Notch </a:t>
            </a:r>
            <a:pPr indent="0" marL="0">
              <a:buNone/>
            </a:pPr>
            <a:r>
              <a:rPr lang="en-US" sz="950" b="1" dirty="0">
                <a:solidFill>
                  <a:srgbClr val="F0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</a:t>
            </a:r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0911535" y="6400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402336" cy="402336"/>
          </a:xfrm>
          <a:prstGeom prst="roundRect">
            <a:avLst>
              <a:gd name="adj" fmla="val 15909"/>
            </a:avLst>
          </a:prstGeom>
          <a:solidFill>
            <a:srgbClr val="F06A2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70432" y="50292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SEQUENCING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channel at a time, deliberately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640080" y="2286000"/>
            <a:ext cx="2606040" cy="292608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641348" y="2578608"/>
            <a:ext cx="603504" cy="603504"/>
          </a:xfrm>
          <a:prstGeom prst="ellipse">
            <a:avLst/>
          </a:prstGeom>
          <a:solidFill>
            <a:srgbClr val="F06A22"/>
          </a:solidFill>
          <a:ln/>
        </p:spPr>
      </p:sp>
      <p:sp>
        <p:nvSpPr>
          <p:cNvPr id="8" name="Text 6"/>
          <p:cNvSpPr/>
          <p:nvPr/>
        </p:nvSpPr>
        <p:spPr>
          <a:xfrm>
            <a:off x="1641348" y="257860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" y="33375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725930" y="3749040"/>
            <a:ext cx="434340" cy="274320"/>
          </a:xfrm>
          <a:prstGeom prst="roundRect">
            <a:avLst>
              <a:gd name="adj" fmla="val 50000"/>
            </a:avLst>
          </a:prstGeom>
          <a:solidFill>
            <a:srgbClr val="FFF4EE"/>
          </a:solidFill>
          <a:ln/>
        </p:spPr>
      </p:sp>
      <p:sp>
        <p:nvSpPr>
          <p:cNvPr id="11" name="Text 9"/>
          <p:cNvSpPr/>
          <p:nvPr/>
        </p:nvSpPr>
        <p:spPr>
          <a:xfrm>
            <a:off x="1725930" y="3749040"/>
            <a:ext cx="434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868680" y="416052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a Glassix human fallback - the only safe place to find failure modes.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264408" y="3383280"/>
            <a:ext cx="301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3547872" y="2286000"/>
            <a:ext cx="2606040" cy="292608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49140" y="2578608"/>
            <a:ext cx="603504" cy="603504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6" name="Text 14"/>
          <p:cNvSpPr/>
          <p:nvPr/>
        </p:nvSpPr>
        <p:spPr>
          <a:xfrm>
            <a:off x="4549140" y="257860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3547872" y="33375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App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4439412" y="3749040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4EE"/>
          </a:solidFill>
          <a:ln/>
        </p:spPr>
      </p:sp>
      <p:sp>
        <p:nvSpPr>
          <p:cNvPr id="19" name="Text 17"/>
          <p:cNvSpPr/>
          <p:nvPr/>
        </p:nvSpPr>
        <p:spPr>
          <a:xfrm>
            <a:off x="4439412" y="37490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776472" y="416052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Bullet's 2026 goal. Reuses the proven core rather than discovering it.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172200" y="3383280"/>
            <a:ext cx="301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6455664" y="2286000"/>
            <a:ext cx="2606040" cy="292608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456932" y="2578608"/>
            <a:ext cx="603504" cy="603504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4" name="Text 22"/>
          <p:cNvSpPr/>
          <p:nvPr/>
        </p:nvSpPr>
        <p:spPr>
          <a:xfrm>
            <a:off x="7456932" y="257860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6455664" y="33375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7580376" y="3749040"/>
            <a:ext cx="356616" cy="274320"/>
          </a:xfrm>
          <a:prstGeom prst="roundRect">
            <a:avLst>
              <a:gd name="adj" fmla="val 50000"/>
            </a:avLst>
          </a:prstGeom>
          <a:solidFill>
            <a:srgbClr val="FFF4EE"/>
          </a:solidFill>
          <a:ln/>
        </p:spPr>
      </p:sp>
      <p:sp>
        <p:nvSpPr>
          <p:cNvPr id="27" name="Text 25"/>
          <p:cNvSpPr/>
          <p:nvPr/>
        </p:nvSpPr>
        <p:spPr>
          <a:xfrm>
            <a:off x="7580376" y="3749040"/>
            <a:ext cx="356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684264" y="416052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the hard part - real-time speech - once text is stable.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079992" y="3383280"/>
            <a:ext cx="301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30" name="Shape 28"/>
          <p:cNvSpPr/>
          <p:nvPr/>
        </p:nvSpPr>
        <p:spPr>
          <a:xfrm>
            <a:off x="9363456" y="2286000"/>
            <a:ext cx="2606040" cy="292608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10364724" y="2578608"/>
            <a:ext cx="603504" cy="603504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32" name="Text 30"/>
          <p:cNvSpPr/>
          <p:nvPr/>
        </p:nvSpPr>
        <p:spPr>
          <a:xfrm>
            <a:off x="10364724" y="257860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9363456" y="33375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10488168" y="3749040"/>
            <a:ext cx="356616" cy="274320"/>
          </a:xfrm>
          <a:prstGeom prst="roundRect">
            <a:avLst>
              <a:gd name="adj" fmla="val 50000"/>
            </a:avLst>
          </a:prstGeom>
          <a:solidFill>
            <a:srgbClr val="FFF4EE"/>
          </a:solidFill>
          <a:ln/>
        </p:spPr>
      </p:sp>
      <p:sp>
        <p:nvSpPr>
          <p:cNvPr id="35" name="Text 33"/>
          <p:cNvSpPr/>
          <p:nvPr/>
        </p:nvSpPr>
        <p:spPr>
          <a:xfrm>
            <a:off x="10488168" y="3749040"/>
            <a:ext cx="356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9592056" y="416052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marginal value, cheapest once the core is fully proven.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40080" y="5440680"/>
            <a:ext cx="10911535" cy="685800"/>
          </a:xfrm>
          <a:prstGeom prst="roundRect">
            <a:avLst>
              <a:gd name="adj" fmla="val 12000"/>
            </a:avLst>
          </a:prstGeom>
          <a:solidFill>
            <a:srgbClr val="FFF4EE"/>
          </a:solidFill>
          <a:ln w="12700">
            <a:solidFill>
              <a:srgbClr val="FAD2B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5440680"/>
            <a:ext cx="103628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reframe:  </a:t>
            </a:r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WhatsApp-first is not a detour from the App deadline - it is the first recoverable increment of the exact core the App depends on.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Notch </a:t>
            </a:r>
            <a:pPr indent="0" marL="0">
              <a:buNone/>
            </a:pPr>
            <a:r>
              <a:rPr lang="en-US" sz="950" b="1" dirty="0">
                <a:solidFill>
                  <a:srgbClr val="F0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</a:t>
            </a:r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10911535" y="6400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402336" cy="402336"/>
          </a:xfrm>
          <a:prstGeom prst="roundRect">
            <a:avLst>
              <a:gd name="adj" fmla="val 15909"/>
            </a:avLst>
          </a:prstGeom>
          <a:solidFill>
            <a:srgbClr val="F06A2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70432" y="50292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committed, the rest sequenced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822960" y="2468880"/>
            <a:ext cx="7532697" cy="1645920"/>
          </a:xfrm>
          <a:prstGeom prst="rect">
            <a:avLst/>
          </a:prstGeom>
          <a:solidFill>
            <a:srgbClr val="F0FDF7"/>
          </a:solidFill>
          <a:ln/>
        </p:spPr>
      </p:sp>
      <p:sp>
        <p:nvSpPr>
          <p:cNvPr id="7" name="Shape 5"/>
          <p:cNvSpPr/>
          <p:nvPr/>
        </p:nvSpPr>
        <p:spPr>
          <a:xfrm>
            <a:off x="8355657" y="2468880"/>
            <a:ext cx="3013079" cy="164592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8" name="Shape 6"/>
          <p:cNvSpPr/>
          <p:nvPr/>
        </p:nvSpPr>
        <p:spPr>
          <a:xfrm>
            <a:off x="822960" y="3291840"/>
            <a:ext cx="10545775" cy="0"/>
          </a:xfrm>
          <a:prstGeom prst="line">
            <a:avLst/>
          </a:prstGeom>
          <a:noFill/>
          <a:ln w="19050">
            <a:solidFill>
              <a:srgbClr val="C9CE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218688"/>
            <a:ext cx="0" cy="146304"/>
          </a:xfrm>
          <a:prstGeom prst="line">
            <a:avLst/>
          </a:prstGeom>
          <a:noFill/>
          <a:ln w="12700">
            <a:solidFill>
              <a:srgbClr val="C9CED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40156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329499" y="3218688"/>
            <a:ext cx="0" cy="146304"/>
          </a:xfrm>
          <a:prstGeom prst="line">
            <a:avLst/>
          </a:prstGeom>
          <a:noFill/>
          <a:ln w="12700">
            <a:solidFill>
              <a:srgbClr val="C9CED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055179" y="340156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836039" y="3218688"/>
            <a:ext cx="0" cy="146304"/>
          </a:xfrm>
          <a:prstGeom prst="line">
            <a:avLst/>
          </a:prstGeom>
          <a:noFill/>
          <a:ln w="12700">
            <a:solidFill>
              <a:srgbClr val="C9CED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61719" y="340156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342578" y="3218688"/>
            <a:ext cx="0" cy="146304"/>
          </a:xfrm>
          <a:prstGeom prst="line">
            <a:avLst/>
          </a:prstGeom>
          <a:noFill/>
          <a:ln w="12700">
            <a:solidFill>
              <a:srgbClr val="C9CE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68258" y="340156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849117" y="3218688"/>
            <a:ext cx="0" cy="146304"/>
          </a:xfrm>
          <a:prstGeom prst="line">
            <a:avLst/>
          </a:prstGeom>
          <a:noFill/>
          <a:ln w="12700">
            <a:solidFill>
              <a:srgbClr val="C9CED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74797" y="340156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355657" y="3218688"/>
            <a:ext cx="0" cy="146304"/>
          </a:xfrm>
          <a:prstGeom prst="line">
            <a:avLst/>
          </a:prstGeom>
          <a:noFill/>
          <a:ln w="12700">
            <a:solidFill>
              <a:srgbClr val="C9CED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81337" y="340156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862196" y="3218688"/>
            <a:ext cx="0" cy="146304"/>
          </a:xfrm>
          <a:prstGeom prst="line">
            <a:avLst/>
          </a:prstGeom>
          <a:noFill/>
          <a:ln w="12700">
            <a:solidFill>
              <a:srgbClr val="C9CED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87876" y="340156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355657" y="2377440"/>
            <a:ext cx="0" cy="1828800"/>
          </a:xfrm>
          <a:prstGeom prst="line">
            <a:avLst/>
          </a:prstGeom>
          <a:noFill/>
          <a:ln w="19050">
            <a:solidFill>
              <a:srgbClr val="DC2626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7258377" y="2103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2026 deadline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22960" y="2057400"/>
            <a:ext cx="30130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2025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355657" y="2057400"/>
            <a:ext cx="30130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2026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 rot="2700000">
            <a:off x="2210627" y="3172968"/>
            <a:ext cx="237744" cy="237744"/>
          </a:xfrm>
          <a:prstGeom prst="rect">
            <a:avLst/>
          </a:prstGeom>
          <a:solidFill>
            <a:srgbClr val="F06A22"/>
          </a:solidFill>
          <a:ln/>
        </p:spPr>
      </p:sp>
      <p:sp>
        <p:nvSpPr>
          <p:cNvPr id="28" name="Text 26"/>
          <p:cNvSpPr/>
          <p:nvPr/>
        </p:nvSpPr>
        <p:spPr>
          <a:xfrm>
            <a:off x="1689419" y="27249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 V0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689419" y="292608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 rot="2700000">
            <a:off x="4169128" y="3172968"/>
            <a:ext cx="237744" cy="237744"/>
          </a:xfrm>
          <a:prstGeom prst="rect">
            <a:avLst/>
          </a:prstGeom>
          <a:solidFill>
            <a:srgbClr val="F06A22"/>
          </a:solidFill>
          <a:ln/>
        </p:spPr>
      </p:sp>
      <p:sp>
        <p:nvSpPr>
          <p:cNvPr id="31" name="Text 29"/>
          <p:cNvSpPr/>
          <p:nvPr/>
        </p:nvSpPr>
        <p:spPr>
          <a:xfrm>
            <a:off x="3647920" y="27249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 V1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647920" y="292608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 rot="2700000">
            <a:off x="5976976" y="3172968"/>
            <a:ext cx="237744" cy="237744"/>
          </a:xfrm>
          <a:prstGeom prst="rect">
            <a:avLst/>
          </a:prstGeom>
          <a:solidFill>
            <a:srgbClr val="F06A22"/>
          </a:solidFill>
          <a:ln/>
        </p:spPr>
      </p:sp>
      <p:sp>
        <p:nvSpPr>
          <p:cNvPr id="34" name="Text 32"/>
          <p:cNvSpPr/>
          <p:nvPr/>
        </p:nvSpPr>
        <p:spPr>
          <a:xfrm>
            <a:off x="5455768" y="27249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 V2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455768" y="292608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 rot="2700000">
            <a:off x="7483515" y="3172968"/>
            <a:ext cx="237744" cy="237744"/>
          </a:xfrm>
          <a:prstGeom prst="rect">
            <a:avLst/>
          </a:prstGeom>
          <a:solidFill>
            <a:srgbClr val="F06A22"/>
          </a:solidFill>
          <a:ln/>
        </p:spPr>
      </p:sp>
      <p:sp>
        <p:nvSpPr>
          <p:cNvPr id="37" name="Text 35"/>
          <p:cNvSpPr/>
          <p:nvPr/>
        </p:nvSpPr>
        <p:spPr>
          <a:xfrm>
            <a:off x="6962307" y="27249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962307" y="292608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 rot="2700000">
            <a:off x="9140708" y="3172968"/>
            <a:ext cx="237744" cy="237744"/>
          </a:xfrm>
          <a:prstGeom prst="rect">
            <a:avLst/>
          </a:prstGeom>
          <a:solidFill>
            <a:srgbClr val="9CA3AF"/>
          </a:solidFill>
          <a:ln/>
        </p:spPr>
      </p:sp>
      <p:sp>
        <p:nvSpPr>
          <p:cNvPr id="40" name="Text 38"/>
          <p:cNvSpPr/>
          <p:nvPr/>
        </p:nvSpPr>
        <p:spPr>
          <a:xfrm>
            <a:off x="8619500" y="27249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619500" y="292608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 rot="2700000">
            <a:off x="10345940" y="3172968"/>
            <a:ext cx="237744" cy="237744"/>
          </a:xfrm>
          <a:prstGeom prst="rect">
            <a:avLst/>
          </a:prstGeom>
          <a:solidFill>
            <a:srgbClr val="9CA3AF"/>
          </a:solidFill>
          <a:ln/>
        </p:spPr>
      </p:sp>
      <p:sp>
        <p:nvSpPr>
          <p:cNvPr id="43" name="Text 41"/>
          <p:cNvSpPr/>
          <p:nvPr/>
        </p:nvSpPr>
        <p:spPr>
          <a:xfrm>
            <a:off x="9824732" y="27249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9824732" y="292608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640080" y="4160520"/>
            <a:ext cx="5349240" cy="1828800"/>
          </a:xfrm>
          <a:prstGeom prst="roundRect">
            <a:avLst>
              <a:gd name="adj" fmla="val 4500"/>
            </a:avLst>
          </a:prstGeom>
          <a:solidFill>
            <a:srgbClr val="F0FDF7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14400" y="4343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COMMITTED · by end Q1 2026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914400" y="466344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 V0</a:t>
            </a:r>
            <a:pPr indent="0" marL="0">
              <a:buNone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(Dec)  ·  </a:t>
            </a:r>
            <a:pPr indent="0" marL="0">
              <a:buNone/>
            </a:pPr>
            <a:r>
              <a:rPr lang="en-US" sz="12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 V1</a:t>
            </a:r>
            <a:pPr indent="0" marL="0">
              <a:buNone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(Jan)  ·  </a:t>
            </a:r>
            <a:pPr indent="0" marL="0">
              <a:buNone/>
            </a:pPr>
            <a:r>
              <a:rPr lang="en-US" sz="12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 V2</a:t>
            </a:r>
            <a:pPr indent="0" marL="0">
              <a:buNone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(Feb)  ·  </a:t>
            </a:r>
            <a:pPr indent="0" marL="0">
              <a:buNone/>
            </a:pPr>
            <a:r>
              <a:rPr lang="en-US" sz="12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App</a:t>
            </a:r>
            <a:pPr indent="0" marL="0">
              <a:buNone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(Mar)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914400" y="525780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V0-V2: WhatsApp pilot through complete. App - Bullet's priority - lands just inside the deadline.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6202375" y="4160520"/>
            <a:ext cx="5349240" cy="1828800"/>
          </a:xfrm>
          <a:prstGeom prst="roundRect">
            <a:avLst>
              <a:gd name="adj" fmla="val 4500"/>
            </a:avLst>
          </a:prstGeom>
          <a:solidFill>
            <a:srgbClr val="F7F8FA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476695" y="4343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SEQUENCED · into Q2 2026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6476695" y="47091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</a:t>
            </a:r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(Apr)  ·  </a:t>
            </a:r>
            <a:pPr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</a:t>
            </a:r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(May)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6476695" y="512064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 Care follows each go-live immediately. Optimization starts once a channel is stable. We protect the must-haves rather than force all five into five months.</a:t>
            </a:r>
            <a:endParaRPr lang="en-US" sz="1150" dirty="0"/>
          </a:p>
        </p:txBody>
      </p:sp>
      <p:sp>
        <p:nvSpPr>
          <p:cNvPr id="53" name="Text 51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Notch </a:t>
            </a:r>
            <a:pPr indent="0" marL="0">
              <a:buNone/>
            </a:pPr>
            <a:r>
              <a:rPr lang="en-US" sz="950" b="1" dirty="0">
                <a:solidFill>
                  <a:srgbClr val="F0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</a:t>
            </a:r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10911535" y="6400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402336" cy="402336"/>
          </a:xfrm>
          <a:prstGeom prst="roundRect">
            <a:avLst>
              <a:gd name="adj" fmla="val 15909"/>
            </a:avLst>
          </a:prstGeom>
          <a:solidFill>
            <a:srgbClr val="F06A2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70432" y="50292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&amp; DOD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small, go live fast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flows (A, B, C, D) are live in V0. The only change in V1 is Flow B coverage: one intent in V0, all remaining intents in V1.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560320"/>
            <a:ext cx="5120640" cy="2560320"/>
          </a:xfrm>
          <a:prstGeom prst="roundRect">
            <a:avLst>
              <a:gd name="adj" fmla="val 3214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60120" y="2788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V0 - PILOT · ALL FOUR FLOWS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960120" y="315468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80160" y="315468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A </a:t>
            </a:r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Routing &amp; Handoff - IVR + Glassix fallback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60120" y="361188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280160" y="361188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B </a:t>
            </a:r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ONE intent only - proves pipeline, first containment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406908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280160" y="406908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C </a:t>
            </a:r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OTP + identity - customer identified from day one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60120" y="452628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80160" y="452628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D </a:t>
            </a:r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Safety &amp; Compliance baseline - always 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035040" y="2560320"/>
            <a:ext cx="5120640" cy="2560320"/>
          </a:xfrm>
          <a:prstGeom prst="roundRect">
            <a:avLst>
              <a:gd name="adj" fmla="val 3214"/>
            </a:avLst>
          </a:prstGeom>
          <a:solidFill>
            <a:srgbClr val="F7F8FA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55080" y="2788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V1 - WHATSAPP FULL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355080" y="3108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V0 unchanged + Flow B expanded (all remaining top intents). This is the only difference.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355080" y="3703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V2 - WHATSAPP COMPLETE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355080" y="402336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KB: </a:t>
            </a:r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intents, not just top-N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355080" y="441655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Hardening: </a:t>
            </a:r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+ prompt injection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355080" y="4809744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Scraping: </a:t>
            </a:r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Bullet's web content auto-indexed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0080" y="5212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METRICS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5532120"/>
            <a:ext cx="3454298" cy="731520"/>
          </a:xfrm>
          <a:prstGeom prst="roundRect">
            <a:avLst>
              <a:gd name="adj" fmla="val 11250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" y="5532120"/>
            <a:ext cx="64008" cy="731520"/>
          </a:xfrm>
          <a:prstGeom prst="rect">
            <a:avLst/>
          </a:prstGeom>
          <a:solidFill>
            <a:srgbClr val="F06A22"/>
          </a:solidFill>
          <a:ln/>
        </p:spPr>
      </p:sp>
      <p:sp>
        <p:nvSpPr>
          <p:cNvPr id="27" name="Text 25"/>
          <p:cNvSpPr/>
          <p:nvPr/>
        </p:nvSpPr>
        <p:spPr>
          <a:xfrm>
            <a:off x="868680" y="5605272"/>
            <a:ext cx="30885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Containment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868680" y="5879592"/>
            <a:ext cx="30885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resolved E2E (calibrate target at kickoff)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368698" y="5532120"/>
            <a:ext cx="3454298" cy="731520"/>
          </a:xfrm>
          <a:prstGeom prst="roundRect">
            <a:avLst>
              <a:gd name="adj" fmla="val 11250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368698" y="5532120"/>
            <a:ext cx="64008" cy="7315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1" name="Text 29"/>
          <p:cNvSpPr/>
          <p:nvPr/>
        </p:nvSpPr>
        <p:spPr>
          <a:xfrm>
            <a:off x="4597298" y="5605272"/>
            <a:ext cx="30885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 quality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4597298" y="5879592"/>
            <a:ext cx="30885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handed off with context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8097317" y="5532120"/>
            <a:ext cx="3454298" cy="731520"/>
          </a:xfrm>
          <a:prstGeom prst="roundRect">
            <a:avLst>
              <a:gd name="adj" fmla="val 11250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097317" y="5532120"/>
            <a:ext cx="64008" cy="7315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Text 33"/>
          <p:cNvSpPr/>
          <p:nvPr/>
        </p:nvSpPr>
        <p:spPr>
          <a:xfrm>
            <a:off x="8325917" y="5605272"/>
            <a:ext cx="30885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1350" dirty="0"/>
          </a:p>
        </p:txBody>
      </p:sp>
      <p:sp>
        <p:nvSpPr>
          <p:cNvPr id="36" name="Text 34"/>
          <p:cNvSpPr/>
          <p:nvPr/>
        </p:nvSpPr>
        <p:spPr>
          <a:xfrm>
            <a:off x="8325917" y="5879592"/>
            <a:ext cx="30885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 pass rate - zero PII tolerance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Notch </a:t>
            </a:r>
            <a:pPr indent="0" marL="0">
              <a:buNone/>
            </a:pPr>
            <a:r>
              <a:rPr lang="en-US" sz="950" b="1" dirty="0">
                <a:solidFill>
                  <a:srgbClr val="F0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</a:t>
            </a:r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10911535" y="6400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402336" cy="402336"/>
          </a:xfrm>
          <a:prstGeom prst="roundRect">
            <a:avLst>
              <a:gd name="adj" fmla="val 15909"/>
            </a:avLst>
          </a:prstGeom>
          <a:solidFill>
            <a:srgbClr val="F06A2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70432" y="50292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Discover, mock, build, integrate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everything we don't know is Bullet-specific. The expensive, access-dependent step is deliberately last.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697480"/>
            <a:ext cx="260604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8680" y="2898648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914400" y="29718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68680" y="36118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868680" y="402336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 Swagger + API comprehension Q&amp;A with Bullet's engineers.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64408" y="3474720"/>
            <a:ext cx="301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3547872" y="2697480"/>
            <a:ext cx="260604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776472" y="2898648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3822192" y="29718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3776472" y="36118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3776472" y="402336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accurate mocks from understood contracts. A deliverable in itself.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172200" y="3474720"/>
            <a:ext cx="301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6455664" y="2697480"/>
            <a:ext cx="260604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684264" y="2898648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6729984" y="29718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684264" y="36118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6684264" y="402336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Flows built on Notch's platform - no Bullet network needed yet.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079992" y="3474720"/>
            <a:ext cx="301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9363456" y="2697480"/>
            <a:ext cx="260604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592056" y="2898648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400" dirty="0"/>
          </a:p>
        </p:txBody>
      </p:sp>
      <p:sp>
        <p:nvSpPr>
          <p:cNvPr id="27" name="Text 25"/>
          <p:cNvSpPr/>
          <p:nvPr/>
        </p:nvSpPr>
        <p:spPr>
          <a:xfrm>
            <a:off x="9637776" y="29718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9592056" y="36118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</a:t>
            </a:r>
            <a:endParaRPr lang="en-US" sz="1650" dirty="0"/>
          </a:p>
        </p:txBody>
      </p:sp>
      <p:sp>
        <p:nvSpPr>
          <p:cNvPr id="29" name="Text 27"/>
          <p:cNvSpPr/>
          <p:nvPr/>
        </p:nvSpPr>
        <p:spPr>
          <a:xfrm>
            <a:off x="9592056" y="402336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mocks for real APIs once the logic is already mature.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40080" y="5166360"/>
            <a:ext cx="10911535" cy="960120"/>
          </a:xfrm>
          <a:prstGeom prst="roundRect">
            <a:avLst>
              <a:gd name="adj" fmla="val 8571"/>
            </a:avLst>
          </a:prstGeom>
          <a:solidFill>
            <a:srgbClr val="0E1526"/>
          </a:solidFill>
          <a:ln/>
          <a:effectLst>
            <a:outerShdw sx="100000" sy="100000" kx="0" ky="0" algn="bl" rotWithShape="0" blurRad="88900" dist="38100" dir="8100000">
              <a:srgbClr val="000000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1005840" y="5166360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0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mock-first is the whole game.  </a:t>
            </a:r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buildable without Bullet is built against mocks - fast and parallel. Bullet's access timeline becomes a constraint on the last mile, not a blocker on the whole build.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Notch </a:t>
            </a:r>
            <a:pPr indent="0" marL="0">
              <a:buNone/>
            </a:pPr>
            <a:r>
              <a:rPr lang="en-US" sz="950" b="1" dirty="0">
                <a:solidFill>
                  <a:srgbClr val="F0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</a:t>
            </a:r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10911535" y="6400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402336" cy="402336"/>
          </a:xfrm>
          <a:prstGeom prst="roundRect">
            <a:avLst>
              <a:gd name="adj" fmla="val 15909"/>
            </a:avLst>
          </a:prstGeom>
          <a:solidFill>
            <a:srgbClr val="F06A2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70432" y="50292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we need on both sides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640080" y="2148840"/>
            <a:ext cx="5212080" cy="425196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148840"/>
            <a:ext cx="5212080" cy="548640"/>
          </a:xfrm>
          <a:prstGeom prst="rect">
            <a:avLst/>
          </a:prstGeom>
          <a:solidFill>
            <a:srgbClr val="F06A22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21488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NOTCH TEAM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 rot="2700000">
            <a:off x="982980" y="2839212"/>
            <a:ext cx="137160" cy="137160"/>
          </a:xfrm>
          <a:prstGeom prst="rect">
            <a:avLst/>
          </a:prstGeom>
          <a:solidFill>
            <a:srgbClr val="F06A22"/>
          </a:solidFill>
          <a:ln/>
        </p:spPr>
      </p:sp>
      <p:sp>
        <p:nvSpPr>
          <p:cNvPr id="10" name="Text 8"/>
          <p:cNvSpPr/>
          <p:nvPr/>
        </p:nvSpPr>
        <p:spPr>
          <a:xfrm>
            <a:off x="1280160" y="27889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Manager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delivery lead, dependency tracker, external sync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 rot="2700000">
            <a:off x="982980" y="3314700"/>
            <a:ext cx="137160" cy="137160"/>
          </a:xfrm>
          <a:prstGeom prst="rect">
            <a:avLst/>
          </a:prstGeom>
          <a:solidFill>
            <a:srgbClr val="F06A22"/>
          </a:solidFill>
          <a:ln/>
        </p:spPr>
      </p:sp>
      <p:sp>
        <p:nvSpPr>
          <p:cNvPr id="12" name="Text 10"/>
          <p:cNvSpPr/>
          <p:nvPr/>
        </p:nvSpPr>
        <p:spPr>
          <a:xfrm>
            <a:off x="1280160" y="326440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Manager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business relationship, scope decisions (advisory)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 rot="2700000">
            <a:off x="982980" y="3790188"/>
            <a:ext cx="137160" cy="137160"/>
          </a:xfrm>
          <a:prstGeom prst="rect">
            <a:avLst/>
          </a:prstGeom>
          <a:solidFill>
            <a:srgbClr val="F06A22"/>
          </a:solidFill>
          <a:ln/>
        </p:spPr>
      </p:sp>
      <p:sp>
        <p:nvSpPr>
          <p:cNvPr id="14" name="Text 12"/>
          <p:cNvSpPr/>
          <p:nvPr/>
        </p:nvSpPr>
        <p:spPr>
          <a:xfrm>
            <a:off x="1280160" y="373989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requirements, backlog, acceptance criteria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 rot="2700000">
            <a:off x="982980" y="4265676"/>
            <a:ext cx="137160" cy="137160"/>
          </a:xfrm>
          <a:prstGeom prst="rect">
            <a:avLst/>
          </a:prstGeom>
          <a:solidFill>
            <a:srgbClr val="F06A22"/>
          </a:solidFill>
          <a:ln/>
        </p:spPr>
      </p:sp>
      <p:sp>
        <p:nvSpPr>
          <p:cNvPr id="16" name="Text 14"/>
          <p:cNvSpPr/>
          <p:nvPr/>
        </p:nvSpPr>
        <p:spPr>
          <a:xfrm>
            <a:off x="1280160" y="421538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 / Infra Engineer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owns the on-prem foundation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 rot="2700000">
            <a:off x="982980" y="4741164"/>
            <a:ext cx="137160" cy="137160"/>
          </a:xfrm>
          <a:prstGeom prst="rect">
            <a:avLst/>
          </a:prstGeom>
          <a:solidFill>
            <a:srgbClr val="F06A22"/>
          </a:solidFill>
          <a:ln/>
        </p:spPr>
      </p:sp>
      <p:sp>
        <p:nvSpPr>
          <p:cNvPr id="18" name="Text 16"/>
          <p:cNvSpPr/>
          <p:nvPr/>
        </p:nvSpPr>
        <p:spPr>
          <a:xfrm>
            <a:off x="1280160" y="469087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× Platform Developers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the core build capacity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 rot="2700000">
            <a:off x="982980" y="5216652"/>
            <a:ext cx="137160" cy="137160"/>
          </a:xfrm>
          <a:prstGeom prst="rect">
            <a:avLst/>
          </a:prstGeom>
          <a:solidFill>
            <a:srgbClr val="F06A22"/>
          </a:solidFill>
          <a:ln/>
        </p:spPr>
      </p:sp>
      <p:sp>
        <p:nvSpPr>
          <p:cNvPr id="20" name="Text 18"/>
          <p:cNvSpPr/>
          <p:nvPr/>
        </p:nvSpPr>
        <p:spPr>
          <a:xfrm>
            <a:off x="1280160" y="51663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/ Prompt Engineer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agents, guardrails, tuning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 rot="2700000">
            <a:off x="982980" y="5692140"/>
            <a:ext cx="137160" cy="137160"/>
          </a:xfrm>
          <a:prstGeom prst="rect">
            <a:avLst/>
          </a:prstGeom>
          <a:solidFill>
            <a:srgbClr val="F06A22"/>
          </a:solidFill>
          <a:ln/>
        </p:spPr>
      </p:sp>
      <p:sp>
        <p:nvSpPr>
          <p:cNvPr id="22" name="Text 20"/>
          <p:cNvSpPr/>
          <p:nvPr/>
        </p:nvSpPr>
        <p:spPr>
          <a:xfrm>
            <a:off x="1280160" y="564184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/ Test Engineer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owns the testing funnel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339535" y="2148840"/>
            <a:ext cx="5212080" cy="425196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39535" y="2148840"/>
            <a:ext cx="5212080" cy="548640"/>
          </a:xfrm>
          <a:prstGeom prst="rect">
            <a:avLst/>
          </a:prstGeom>
          <a:solidFill>
            <a:srgbClr val="0E1526"/>
          </a:solidFill>
          <a:ln/>
        </p:spPr>
      </p:sp>
      <p:sp>
        <p:nvSpPr>
          <p:cNvPr id="25" name="Text 23"/>
          <p:cNvSpPr/>
          <p:nvPr/>
        </p:nvSpPr>
        <p:spPr>
          <a:xfrm>
            <a:off x="6659575" y="21488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 TEAM  ·  the critical path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 rot="2700000">
            <a:off x="6682435" y="2839212"/>
            <a:ext cx="137160" cy="137160"/>
          </a:xfrm>
          <a:prstGeom prst="rect">
            <a:avLst/>
          </a:prstGeom>
          <a:solidFill>
            <a:srgbClr val="0E1526"/>
          </a:solidFill>
          <a:ln/>
        </p:spPr>
      </p:sp>
      <p:sp>
        <p:nvSpPr>
          <p:cNvPr id="27" name="Text 25"/>
          <p:cNvSpPr/>
          <p:nvPr/>
        </p:nvSpPr>
        <p:spPr>
          <a:xfrm>
            <a:off x="6979615" y="27889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single coordination point - the must-have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 rot="2700000">
            <a:off x="6682435" y="3314700"/>
            <a:ext cx="137160" cy="137160"/>
          </a:xfrm>
          <a:prstGeom prst="rect">
            <a:avLst/>
          </a:prstGeom>
          <a:solidFill>
            <a:srgbClr val="0E1526"/>
          </a:solidFill>
          <a:ln/>
        </p:spPr>
      </p:sp>
      <p:sp>
        <p:nvSpPr>
          <p:cNvPr id="29" name="Text 27"/>
          <p:cNvSpPr/>
          <p:nvPr/>
        </p:nvSpPr>
        <p:spPr>
          <a:xfrm>
            <a:off x="6979615" y="326440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 / Cloud Engineer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provisions envs, access, GPU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 rot="2700000">
            <a:off x="6682435" y="3790188"/>
            <a:ext cx="137160" cy="137160"/>
          </a:xfrm>
          <a:prstGeom prst="rect">
            <a:avLst/>
          </a:prstGeom>
          <a:solidFill>
            <a:srgbClr val="0E1526"/>
          </a:solidFill>
          <a:ln/>
        </p:spPr>
      </p:sp>
      <p:sp>
        <p:nvSpPr>
          <p:cNvPr id="31" name="Text 29"/>
          <p:cNvSpPr/>
          <p:nvPr/>
        </p:nvSpPr>
        <p:spPr>
          <a:xfrm>
            <a:off x="6979615" y="373989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/ Backend owners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Swagger + comprehension Q&amp;A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 rot="2700000">
            <a:off x="6682435" y="4265676"/>
            <a:ext cx="137160" cy="137160"/>
          </a:xfrm>
          <a:prstGeom prst="rect">
            <a:avLst/>
          </a:prstGeom>
          <a:solidFill>
            <a:srgbClr val="0E1526"/>
          </a:solidFill>
          <a:ln/>
        </p:spPr>
      </p:sp>
      <p:sp>
        <p:nvSpPr>
          <p:cNvPr id="33" name="Text 31"/>
          <p:cNvSpPr/>
          <p:nvPr/>
        </p:nvSpPr>
        <p:spPr>
          <a:xfrm>
            <a:off x="6979615" y="421538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/ Compliance lead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scanning, pentest, prod access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 rot="2700000">
            <a:off x="6682435" y="4741164"/>
            <a:ext cx="137160" cy="137160"/>
          </a:xfrm>
          <a:prstGeom prst="rect">
            <a:avLst/>
          </a:prstGeom>
          <a:solidFill>
            <a:srgbClr val="0E1526"/>
          </a:solidFill>
          <a:ln/>
        </p:spPr>
      </p:sp>
      <p:sp>
        <p:nvSpPr>
          <p:cNvPr id="35" name="Text 33"/>
          <p:cNvSpPr/>
          <p:nvPr/>
        </p:nvSpPr>
        <p:spPr>
          <a:xfrm>
            <a:off x="6979615" y="469087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top intents, UAT, AI response correctness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Notch </a:t>
            </a:r>
            <a:pPr indent="0" marL="0">
              <a:buNone/>
            </a:pPr>
            <a:r>
              <a:rPr lang="en-US" sz="950" b="1" dirty="0">
                <a:solidFill>
                  <a:srgbClr val="F0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</a:t>
            </a:r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10911535" y="6400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402336" cy="402336"/>
          </a:xfrm>
          <a:prstGeom prst="roundRect">
            <a:avLst>
              <a:gd name="adj" fmla="val 15909"/>
            </a:avLst>
          </a:prstGeom>
          <a:solidFill>
            <a:srgbClr val="F06A2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70432" y="50292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&amp; ROLLOUT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gates, then Hyper Care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channel passes the same funnel, ordered by cost of failure - then a post-launch tail.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834640"/>
            <a:ext cx="1298448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2834640"/>
            <a:ext cx="1298448" cy="91440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999232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85800" y="3291840"/>
            <a:ext cx="120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testing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920240" y="310896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048256" y="2834640"/>
            <a:ext cx="1298448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048256" y="2834640"/>
            <a:ext cx="1298448" cy="91440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14" name="Text 12"/>
          <p:cNvSpPr/>
          <p:nvPr/>
        </p:nvSpPr>
        <p:spPr>
          <a:xfrm>
            <a:off x="2048256" y="2999232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093976" y="3291840"/>
            <a:ext cx="120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 UAT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328416" y="310896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456432" y="2834640"/>
            <a:ext cx="1298448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56432" y="2834640"/>
            <a:ext cx="1298448" cy="91440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19" name="Text 17"/>
          <p:cNvSpPr/>
          <p:nvPr/>
        </p:nvSpPr>
        <p:spPr>
          <a:xfrm>
            <a:off x="3456432" y="2999232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502152" y="3291840"/>
            <a:ext cx="120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Pentest + load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736592" y="310896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864608" y="2834640"/>
            <a:ext cx="1298448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864608" y="2834640"/>
            <a:ext cx="1298448" cy="91440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24" name="Text 22"/>
          <p:cNvSpPr/>
          <p:nvPr/>
        </p:nvSpPr>
        <p:spPr>
          <a:xfrm>
            <a:off x="4864608" y="2999232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910328" y="3291840"/>
            <a:ext cx="120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 validation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144768" y="310896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272784" y="2834640"/>
            <a:ext cx="1298448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72784" y="2834640"/>
            <a:ext cx="1298448" cy="9144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29" name="Text 27"/>
          <p:cNvSpPr/>
          <p:nvPr/>
        </p:nvSpPr>
        <p:spPr>
          <a:xfrm>
            <a:off x="6272784" y="2999232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6318504" y="3291840"/>
            <a:ext cx="120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PVT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552944" y="310896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7680960" y="2834640"/>
            <a:ext cx="1298448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680960" y="2834640"/>
            <a:ext cx="1298448" cy="91440"/>
          </a:xfrm>
          <a:prstGeom prst="rect">
            <a:avLst/>
          </a:prstGeom>
          <a:solidFill>
            <a:srgbClr val="F06A22"/>
          </a:solidFill>
          <a:ln/>
        </p:spPr>
      </p:sp>
      <p:sp>
        <p:nvSpPr>
          <p:cNvPr id="34" name="Text 32"/>
          <p:cNvSpPr/>
          <p:nvPr/>
        </p:nvSpPr>
        <p:spPr>
          <a:xfrm>
            <a:off x="7680960" y="2999232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0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7726680" y="3291840"/>
            <a:ext cx="120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Go-live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961120" y="310896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9089136" y="2834640"/>
            <a:ext cx="1298448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089136" y="2834640"/>
            <a:ext cx="1298448" cy="914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9" name="Text 37"/>
          <p:cNvSpPr/>
          <p:nvPr/>
        </p:nvSpPr>
        <p:spPr>
          <a:xfrm>
            <a:off x="9089136" y="2999232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9134856" y="3291840"/>
            <a:ext cx="120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 Care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10369296" y="310896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10497312" y="2834640"/>
            <a:ext cx="1298448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0497312" y="2834640"/>
            <a:ext cx="1298448" cy="9144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4" name="Text 42"/>
          <p:cNvSpPr/>
          <p:nvPr/>
        </p:nvSpPr>
        <p:spPr>
          <a:xfrm>
            <a:off x="10497312" y="2999232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10543032" y="3291840"/>
            <a:ext cx="120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Optimization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40080" y="4251960"/>
            <a:ext cx="5349240" cy="1737360"/>
          </a:xfrm>
          <a:prstGeom prst="roundRect">
            <a:avLst>
              <a:gd name="adj" fmla="val 4737"/>
            </a:avLst>
          </a:prstGeom>
          <a:solidFill>
            <a:srgbClr val="FFF4EE"/>
          </a:solidFill>
          <a:ln w="12700">
            <a:solidFill>
              <a:srgbClr val="FAD2B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60120" y="443484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 Care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960120" y="475488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immediately after go-live - part of the delivery sequence, not deferred. 2-3 intensive weeks: elevated monitoring, a dedicated responder, a fast incident loop - before the channel is treated as steady-state.</a:t>
            </a:r>
            <a:endParaRPr lang="en-US" sz="1250" dirty="0"/>
          </a:p>
        </p:txBody>
      </p:sp>
      <p:sp>
        <p:nvSpPr>
          <p:cNvPr id="49" name="Shape 47"/>
          <p:cNvSpPr/>
          <p:nvPr/>
        </p:nvSpPr>
        <p:spPr>
          <a:xfrm>
            <a:off x="6202375" y="4251960"/>
            <a:ext cx="5349240" cy="1737360"/>
          </a:xfrm>
          <a:prstGeom prst="roundRect">
            <a:avLst>
              <a:gd name="adj" fmla="val 4737"/>
            </a:avLst>
          </a:prstGeom>
          <a:solidFill>
            <a:srgbClr val="F0FDF7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522415" y="443484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Optimization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6522415" y="475488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once Hyper Care is complete and the channel is stable. Tuning prompts and guardrails against real conversations, expanding intent coverage. Starts after all preceding phases - unless Bullet's priorities direct otherwise.</a:t>
            </a:r>
            <a:endParaRPr lang="en-US" sz="1250" dirty="0"/>
          </a:p>
        </p:txBody>
      </p:sp>
      <p:sp>
        <p:nvSpPr>
          <p:cNvPr id="52" name="Text 50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Notch </a:t>
            </a:r>
            <a:pPr indent="0" marL="0">
              <a:buNone/>
            </a:pPr>
            <a:r>
              <a:rPr lang="en-US" sz="950" b="1" dirty="0">
                <a:solidFill>
                  <a:srgbClr val="F0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</a:t>
            </a:r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10911535" y="6400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402336" cy="402336"/>
          </a:xfrm>
          <a:prstGeom prst="roundRect">
            <a:avLst>
              <a:gd name="adj" fmla="val 15909"/>
            </a:avLst>
          </a:prstGeom>
          <a:solidFill>
            <a:srgbClr val="F06A2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70432" y="50292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Scored, not just listed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risk is typed and scored on a 5×5 matrix (impact × probability), ranked by score.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97280" y="2697480"/>
            <a:ext cx="512064" cy="512064"/>
          </a:xfrm>
          <a:prstGeom prst="rect">
            <a:avLst/>
          </a:prstGeom>
          <a:solidFill>
            <a:srgbClr val="FDE68A"/>
          </a:solidFill>
          <a:ln/>
        </p:spPr>
      </p:sp>
      <p:sp>
        <p:nvSpPr>
          <p:cNvPr id="8" name="Shape 6"/>
          <p:cNvSpPr/>
          <p:nvPr/>
        </p:nvSpPr>
        <p:spPr>
          <a:xfrm>
            <a:off x="1664208" y="2697480"/>
            <a:ext cx="512064" cy="512064"/>
          </a:xfrm>
          <a:prstGeom prst="rect">
            <a:avLst/>
          </a:prstGeom>
          <a:solidFill>
            <a:srgbClr val="FDBA74"/>
          </a:solidFill>
          <a:ln/>
        </p:spPr>
      </p:sp>
      <p:sp>
        <p:nvSpPr>
          <p:cNvPr id="9" name="Shape 7"/>
          <p:cNvSpPr/>
          <p:nvPr/>
        </p:nvSpPr>
        <p:spPr>
          <a:xfrm>
            <a:off x="2231136" y="2697480"/>
            <a:ext cx="512064" cy="512064"/>
          </a:xfrm>
          <a:prstGeom prst="rect">
            <a:avLst/>
          </a:prstGeom>
          <a:solidFill>
            <a:srgbClr val="FDBA74"/>
          </a:solidFill>
          <a:ln/>
        </p:spPr>
      </p:sp>
      <p:sp>
        <p:nvSpPr>
          <p:cNvPr id="10" name="Shape 8"/>
          <p:cNvSpPr/>
          <p:nvPr/>
        </p:nvSpPr>
        <p:spPr>
          <a:xfrm>
            <a:off x="2340864" y="2807208"/>
            <a:ext cx="292608" cy="292608"/>
          </a:xfrm>
          <a:prstGeom prst="ellipse">
            <a:avLst/>
          </a:prstGeom>
          <a:solidFill>
            <a:srgbClr val="1F2937"/>
          </a:solidFill>
          <a:ln/>
        </p:spPr>
      </p:sp>
      <p:sp>
        <p:nvSpPr>
          <p:cNvPr id="11" name="Text 9"/>
          <p:cNvSpPr/>
          <p:nvPr/>
        </p:nvSpPr>
        <p:spPr>
          <a:xfrm>
            <a:off x="2340864" y="28072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98064" y="2697480"/>
            <a:ext cx="512064" cy="512064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13" name="Shape 11"/>
          <p:cNvSpPr/>
          <p:nvPr/>
        </p:nvSpPr>
        <p:spPr>
          <a:xfrm>
            <a:off x="3364992" y="2697480"/>
            <a:ext cx="512064" cy="512064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14" name="Shape 12"/>
          <p:cNvSpPr/>
          <p:nvPr/>
        </p:nvSpPr>
        <p:spPr>
          <a:xfrm>
            <a:off x="1097280" y="3264408"/>
            <a:ext cx="512064" cy="512064"/>
          </a:xfrm>
          <a:prstGeom prst="rect">
            <a:avLst/>
          </a:prstGeom>
          <a:solidFill>
            <a:srgbClr val="BBF7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664208" y="3264408"/>
            <a:ext cx="512064" cy="512064"/>
          </a:xfrm>
          <a:prstGeom prst="rect">
            <a:avLst/>
          </a:prstGeom>
          <a:solidFill>
            <a:srgbClr val="FDE68A"/>
          </a:solidFill>
          <a:ln/>
        </p:spPr>
      </p:sp>
      <p:sp>
        <p:nvSpPr>
          <p:cNvPr id="16" name="Shape 14"/>
          <p:cNvSpPr/>
          <p:nvPr/>
        </p:nvSpPr>
        <p:spPr>
          <a:xfrm>
            <a:off x="2231136" y="3264408"/>
            <a:ext cx="512064" cy="512064"/>
          </a:xfrm>
          <a:prstGeom prst="rect">
            <a:avLst/>
          </a:prstGeom>
          <a:solidFill>
            <a:srgbClr val="FDBA74"/>
          </a:solidFill>
          <a:ln/>
        </p:spPr>
      </p:sp>
      <p:sp>
        <p:nvSpPr>
          <p:cNvPr id="17" name="Shape 15"/>
          <p:cNvSpPr/>
          <p:nvPr/>
        </p:nvSpPr>
        <p:spPr>
          <a:xfrm>
            <a:off x="2340864" y="3374136"/>
            <a:ext cx="292608" cy="292608"/>
          </a:xfrm>
          <a:prstGeom prst="ellipse">
            <a:avLst/>
          </a:prstGeom>
          <a:solidFill>
            <a:srgbClr val="1F2937"/>
          </a:solidFill>
          <a:ln/>
        </p:spPr>
      </p:sp>
      <p:sp>
        <p:nvSpPr>
          <p:cNvPr id="18" name="Text 16"/>
          <p:cNvSpPr/>
          <p:nvPr/>
        </p:nvSpPr>
        <p:spPr>
          <a:xfrm>
            <a:off x="2340864" y="33741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798064" y="3264408"/>
            <a:ext cx="512064" cy="512064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20" name="Shape 18"/>
          <p:cNvSpPr/>
          <p:nvPr/>
        </p:nvSpPr>
        <p:spPr>
          <a:xfrm>
            <a:off x="2907792" y="3374136"/>
            <a:ext cx="292608" cy="292608"/>
          </a:xfrm>
          <a:prstGeom prst="ellipse">
            <a:avLst/>
          </a:prstGeom>
          <a:solidFill>
            <a:srgbClr val="1F2937"/>
          </a:solidFill>
          <a:ln/>
        </p:spPr>
      </p:sp>
      <p:sp>
        <p:nvSpPr>
          <p:cNvPr id="21" name="Text 19"/>
          <p:cNvSpPr/>
          <p:nvPr/>
        </p:nvSpPr>
        <p:spPr>
          <a:xfrm>
            <a:off x="2907792" y="33741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364992" y="3264408"/>
            <a:ext cx="512064" cy="512064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23" name="Shape 21"/>
          <p:cNvSpPr/>
          <p:nvPr/>
        </p:nvSpPr>
        <p:spPr>
          <a:xfrm>
            <a:off x="1097280" y="3831336"/>
            <a:ext cx="512064" cy="512064"/>
          </a:xfrm>
          <a:prstGeom prst="rect">
            <a:avLst/>
          </a:prstGeom>
          <a:solidFill>
            <a:srgbClr val="BBF7D0"/>
          </a:solidFill>
          <a:ln/>
        </p:spPr>
      </p:sp>
      <p:sp>
        <p:nvSpPr>
          <p:cNvPr id="24" name="Shape 22"/>
          <p:cNvSpPr/>
          <p:nvPr/>
        </p:nvSpPr>
        <p:spPr>
          <a:xfrm>
            <a:off x="1664208" y="3831336"/>
            <a:ext cx="512064" cy="512064"/>
          </a:xfrm>
          <a:prstGeom prst="rect">
            <a:avLst/>
          </a:prstGeom>
          <a:solidFill>
            <a:srgbClr val="FDE68A"/>
          </a:solidFill>
          <a:ln/>
        </p:spPr>
      </p:sp>
      <p:sp>
        <p:nvSpPr>
          <p:cNvPr id="25" name="Shape 23"/>
          <p:cNvSpPr/>
          <p:nvPr/>
        </p:nvSpPr>
        <p:spPr>
          <a:xfrm>
            <a:off x="2231136" y="3831336"/>
            <a:ext cx="512064" cy="512064"/>
          </a:xfrm>
          <a:prstGeom prst="rect">
            <a:avLst/>
          </a:prstGeom>
          <a:solidFill>
            <a:srgbClr val="FDE68A"/>
          </a:solidFill>
          <a:ln/>
        </p:spPr>
      </p:sp>
      <p:sp>
        <p:nvSpPr>
          <p:cNvPr id="26" name="Shape 24"/>
          <p:cNvSpPr/>
          <p:nvPr/>
        </p:nvSpPr>
        <p:spPr>
          <a:xfrm>
            <a:off x="2798064" y="3831336"/>
            <a:ext cx="512064" cy="512064"/>
          </a:xfrm>
          <a:prstGeom prst="rect">
            <a:avLst/>
          </a:prstGeom>
          <a:solidFill>
            <a:srgbClr val="FDBA74"/>
          </a:solidFill>
          <a:ln/>
        </p:spPr>
      </p:sp>
      <p:sp>
        <p:nvSpPr>
          <p:cNvPr id="27" name="Shape 25"/>
          <p:cNvSpPr/>
          <p:nvPr/>
        </p:nvSpPr>
        <p:spPr>
          <a:xfrm>
            <a:off x="3364992" y="3831336"/>
            <a:ext cx="512064" cy="512064"/>
          </a:xfrm>
          <a:prstGeom prst="rect">
            <a:avLst/>
          </a:prstGeom>
          <a:solidFill>
            <a:srgbClr val="FDBA74"/>
          </a:solidFill>
          <a:ln/>
        </p:spPr>
      </p:sp>
      <p:sp>
        <p:nvSpPr>
          <p:cNvPr id="28" name="Shape 26"/>
          <p:cNvSpPr/>
          <p:nvPr/>
        </p:nvSpPr>
        <p:spPr>
          <a:xfrm>
            <a:off x="1097280" y="4398264"/>
            <a:ext cx="512064" cy="512064"/>
          </a:xfrm>
          <a:prstGeom prst="rect">
            <a:avLst/>
          </a:prstGeom>
          <a:solidFill>
            <a:srgbClr val="BBF7D0"/>
          </a:solidFill>
          <a:ln/>
        </p:spPr>
      </p:sp>
      <p:sp>
        <p:nvSpPr>
          <p:cNvPr id="29" name="Shape 27"/>
          <p:cNvSpPr/>
          <p:nvPr/>
        </p:nvSpPr>
        <p:spPr>
          <a:xfrm>
            <a:off x="1664208" y="4398264"/>
            <a:ext cx="512064" cy="512064"/>
          </a:xfrm>
          <a:prstGeom prst="rect">
            <a:avLst/>
          </a:prstGeom>
          <a:solidFill>
            <a:srgbClr val="BBF7D0"/>
          </a:solidFill>
          <a:ln/>
        </p:spPr>
      </p:sp>
      <p:sp>
        <p:nvSpPr>
          <p:cNvPr id="30" name="Shape 28"/>
          <p:cNvSpPr/>
          <p:nvPr/>
        </p:nvSpPr>
        <p:spPr>
          <a:xfrm>
            <a:off x="1773936" y="4507992"/>
            <a:ext cx="292608" cy="292608"/>
          </a:xfrm>
          <a:prstGeom prst="ellipse">
            <a:avLst/>
          </a:prstGeom>
          <a:solidFill>
            <a:srgbClr val="1F2937"/>
          </a:solidFill>
          <a:ln/>
        </p:spPr>
      </p:sp>
      <p:sp>
        <p:nvSpPr>
          <p:cNvPr id="31" name="Text 29"/>
          <p:cNvSpPr/>
          <p:nvPr/>
        </p:nvSpPr>
        <p:spPr>
          <a:xfrm>
            <a:off x="1773936" y="45079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231136" y="4398264"/>
            <a:ext cx="512064" cy="512064"/>
          </a:xfrm>
          <a:prstGeom prst="rect">
            <a:avLst/>
          </a:prstGeom>
          <a:solidFill>
            <a:srgbClr val="FDE68A"/>
          </a:solidFill>
          <a:ln/>
        </p:spPr>
      </p:sp>
      <p:sp>
        <p:nvSpPr>
          <p:cNvPr id="33" name="Shape 31"/>
          <p:cNvSpPr/>
          <p:nvPr/>
        </p:nvSpPr>
        <p:spPr>
          <a:xfrm>
            <a:off x="2798064" y="4398264"/>
            <a:ext cx="512064" cy="512064"/>
          </a:xfrm>
          <a:prstGeom prst="rect">
            <a:avLst/>
          </a:prstGeom>
          <a:solidFill>
            <a:srgbClr val="FDE68A"/>
          </a:solidFill>
          <a:ln/>
        </p:spPr>
      </p:sp>
      <p:sp>
        <p:nvSpPr>
          <p:cNvPr id="34" name="Shape 32"/>
          <p:cNvSpPr/>
          <p:nvPr/>
        </p:nvSpPr>
        <p:spPr>
          <a:xfrm>
            <a:off x="2907792" y="4507992"/>
            <a:ext cx="292608" cy="292608"/>
          </a:xfrm>
          <a:prstGeom prst="ellipse">
            <a:avLst/>
          </a:prstGeom>
          <a:solidFill>
            <a:srgbClr val="1F2937"/>
          </a:solidFill>
          <a:ln/>
        </p:spPr>
      </p:sp>
      <p:sp>
        <p:nvSpPr>
          <p:cNvPr id="35" name="Text 33"/>
          <p:cNvSpPr/>
          <p:nvPr/>
        </p:nvSpPr>
        <p:spPr>
          <a:xfrm>
            <a:off x="2907792" y="45079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364992" y="4398264"/>
            <a:ext cx="512064" cy="512064"/>
          </a:xfrm>
          <a:prstGeom prst="rect">
            <a:avLst/>
          </a:prstGeom>
          <a:solidFill>
            <a:srgbClr val="FDBA74"/>
          </a:solidFill>
          <a:ln/>
        </p:spPr>
      </p:sp>
      <p:sp>
        <p:nvSpPr>
          <p:cNvPr id="37" name="Shape 35"/>
          <p:cNvSpPr/>
          <p:nvPr/>
        </p:nvSpPr>
        <p:spPr>
          <a:xfrm>
            <a:off x="1097280" y="4965192"/>
            <a:ext cx="512064" cy="512064"/>
          </a:xfrm>
          <a:prstGeom prst="rect">
            <a:avLst/>
          </a:prstGeom>
          <a:solidFill>
            <a:srgbClr val="BBF7D0"/>
          </a:solidFill>
          <a:ln/>
        </p:spPr>
      </p:sp>
      <p:sp>
        <p:nvSpPr>
          <p:cNvPr id="38" name="Shape 36"/>
          <p:cNvSpPr/>
          <p:nvPr/>
        </p:nvSpPr>
        <p:spPr>
          <a:xfrm>
            <a:off x="1664208" y="4965192"/>
            <a:ext cx="512064" cy="512064"/>
          </a:xfrm>
          <a:prstGeom prst="rect">
            <a:avLst/>
          </a:prstGeom>
          <a:solidFill>
            <a:srgbClr val="BBF7D0"/>
          </a:solidFill>
          <a:ln/>
        </p:spPr>
      </p:sp>
      <p:sp>
        <p:nvSpPr>
          <p:cNvPr id="39" name="Shape 37"/>
          <p:cNvSpPr/>
          <p:nvPr/>
        </p:nvSpPr>
        <p:spPr>
          <a:xfrm>
            <a:off x="2231136" y="4965192"/>
            <a:ext cx="512064" cy="512064"/>
          </a:xfrm>
          <a:prstGeom prst="rect">
            <a:avLst/>
          </a:prstGeom>
          <a:solidFill>
            <a:srgbClr val="BBF7D0"/>
          </a:solidFill>
          <a:ln/>
        </p:spPr>
      </p:sp>
      <p:sp>
        <p:nvSpPr>
          <p:cNvPr id="40" name="Shape 38"/>
          <p:cNvSpPr/>
          <p:nvPr/>
        </p:nvSpPr>
        <p:spPr>
          <a:xfrm>
            <a:off x="2798064" y="4965192"/>
            <a:ext cx="512064" cy="512064"/>
          </a:xfrm>
          <a:prstGeom prst="rect">
            <a:avLst/>
          </a:prstGeom>
          <a:solidFill>
            <a:srgbClr val="BBF7D0"/>
          </a:solidFill>
          <a:ln/>
        </p:spPr>
      </p:sp>
      <p:sp>
        <p:nvSpPr>
          <p:cNvPr id="41" name="Shape 39"/>
          <p:cNvSpPr/>
          <p:nvPr/>
        </p:nvSpPr>
        <p:spPr>
          <a:xfrm>
            <a:off x="3364992" y="4965192"/>
            <a:ext cx="512064" cy="512064"/>
          </a:xfrm>
          <a:prstGeom prst="rect">
            <a:avLst/>
          </a:prstGeom>
          <a:solidFill>
            <a:srgbClr val="FDE68A"/>
          </a:solidFill>
          <a:ln/>
        </p:spPr>
      </p:sp>
      <p:sp>
        <p:nvSpPr>
          <p:cNvPr id="42" name="Text 40"/>
          <p:cNvSpPr/>
          <p:nvPr/>
        </p:nvSpPr>
        <p:spPr>
          <a:xfrm rot="16200000">
            <a:off x="320040" y="39776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→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097280" y="55778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PROBABILITY →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572000" y="2734056"/>
            <a:ext cx="310896" cy="310896"/>
          </a:xfrm>
          <a:prstGeom prst="ellipse">
            <a:avLst/>
          </a:prstGeom>
          <a:solidFill>
            <a:srgbClr val="1F2937"/>
          </a:solidFill>
          <a:ln/>
        </p:spPr>
      </p:sp>
      <p:sp>
        <p:nvSpPr>
          <p:cNvPr id="45" name="Text 43"/>
          <p:cNvSpPr/>
          <p:nvPr/>
        </p:nvSpPr>
        <p:spPr>
          <a:xfrm>
            <a:off x="4572000" y="2734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5029200" y="2697480"/>
            <a:ext cx="51508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access refused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5029200" y="2916936"/>
            <a:ext cx="51508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10317175" y="2752344"/>
            <a:ext cx="1211580" cy="274320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/>
        </p:spPr>
      </p:sp>
      <p:sp>
        <p:nvSpPr>
          <p:cNvPr id="49" name="Text 47"/>
          <p:cNvSpPr/>
          <p:nvPr/>
        </p:nvSpPr>
        <p:spPr>
          <a:xfrm>
            <a:off x="10317175" y="2752344"/>
            <a:ext cx="12115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· Critical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4572000" y="3337560"/>
            <a:ext cx="310896" cy="310896"/>
          </a:xfrm>
          <a:prstGeom prst="ellipse">
            <a:avLst/>
          </a:prstGeom>
          <a:solidFill>
            <a:srgbClr val="1F2937"/>
          </a:solidFill>
          <a:ln/>
        </p:spPr>
      </p:sp>
      <p:sp>
        <p:nvSpPr>
          <p:cNvPr id="51" name="Text 49"/>
          <p:cNvSpPr/>
          <p:nvPr/>
        </p:nvSpPr>
        <p:spPr>
          <a:xfrm>
            <a:off x="4572000" y="33375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5029200" y="3300984"/>
            <a:ext cx="51508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Containment below target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5029200" y="3520440"/>
            <a:ext cx="51508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10317175" y="3355848"/>
            <a:ext cx="900684" cy="274320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/>
        </p:spPr>
      </p:sp>
      <p:sp>
        <p:nvSpPr>
          <p:cNvPr id="55" name="Text 53"/>
          <p:cNvSpPr/>
          <p:nvPr/>
        </p:nvSpPr>
        <p:spPr>
          <a:xfrm>
            <a:off x="10317175" y="3355848"/>
            <a:ext cx="9006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· High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4572000" y="3941064"/>
            <a:ext cx="310896" cy="310896"/>
          </a:xfrm>
          <a:prstGeom prst="ellipse">
            <a:avLst/>
          </a:prstGeom>
          <a:solidFill>
            <a:srgbClr val="1F2937"/>
          </a:solidFill>
          <a:ln/>
        </p:spPr>
      </p:sp>
      <p:sp>
        <p:nvSpPr>
          <p:cNvPr id="57" name="Text 55"/>
          <p:cNvSpPr/>
          <p:nvPr/>
        </p:nvSpPr>
        <p:spPr>
          <a:xfrm>
            <a:off x="4572000" y="39410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5029200" y="3904488"/>
            <a:ext cx="51508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contention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5029200" y="4123944"/>
            <a:ext cx="51508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Resourcing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10317175" y="3959352"/>
            <a:ext cx="900684" cy="274320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/>
        </p:spPr>
      </p:sp>
      <p:sp>
        <p:nvSpPr>
          <p:cNvPr id="61" name="Text 59"/>
          <p:cNvSpPr/>
          <p:nvPr/>
        </p:nvSpPr>
        <p:spPr>
          <a:xfrm>
            <a:off x="10317175" y="3959352"/>
            <a:ext cx="9006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High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4572000" y="4544568"/>
            <a:ext cx="310896" cy="310896"/>
          </a:xfrm>
          <a:prstGeom prst="ellipse">
            <a:avLst/>
          </a:prstGeom>
          <a:solidFill>
            <a:srgbClr val="1F2937"/>
          </a:solidFill>
          <a:ln/>
        </p:spPr>
      </p:sp>
      <p:sp>
        <p:nvSpPr>
          <p:cNvPr id="63" name="Text 61"/>
          <p:cNvSpPr/>
          <p:nvPr/>
        </p:nvSpPr>
        <p:spPr>
          <a:xfrm>
            <a:off x="4572000" y="45445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5029200" y="4507992"/>
            <a:ext cx="51508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fails security scan</a:t>
            </a:r>
            <a:endParaRPr lang="en-US" sz="1300" dirty="0"/>
          </a:p>
        </p:txBody>
      </p:sp>
      <p:sp>
        <p:nvSpPr>
          <p:cNvPr id="65" name="Text 63"/>
          <p:cNvSpPr/>
          <p:nvPr/>
        </p:nvSpPr>
        <p:spPr>
          <a:xfrm>
            <a:off x="5029200" y="4727448"/>
            <a:ext cx="51508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10317175" y="4562856"/>
            <a:ext cx="978408" cy="274320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/>
        </p:spPr>
      </p:sp>
      <p:sp>
        <p:nvSpPr>
          <p:cNvPr id="67" name="Text 65"/>
          <p:cNvSpPr/>
          <p:nvPr/>
        </p:nvSpPr>
        <p:spPr>
          <a:xfrm>
            <a:off x="10317175" y="4562856"/>
            <a:ext cx="978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· Medium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4572000" y="5148072"/>
            <a:ext cx="310896" cy="310896"/>
          </a:xfrm>
          <a:prstGeom prst="ellipse">
            <a:avLst/>
          </a:prstGeom>
          <a:solidFill>
            <a:srgbClr val="1F2937"/>
          </a:solidFill>
          <a:ln/>
        </p:spPr>
      </p:sp>
      <p:sp>
        <p:nvSpPr>
          <p:cNvPr id="69" name="Text 67"/>
          <p:cNvSpPr/>
          <p:nvPr/>
        </p:nvSpPr>
        <p:spPr>
          <a:xfrm>
            <a:off x="4572000" y="5148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70" name="Text 68"/>
          <p:cNvSpPr/>
          <p:nvPr/>
        </p:nvSpPr>
        <p:spPr>
          <a:xfrm>
            <a:off x="5029200" y="5111496"/>
            <a:ext cx="51508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Tooling ownership unresolved</a:t>
            </a:r>
            <a:endParaRPr lang="en-US" sz="1300" dirty="0"/>
          </a:p>
        </p:txBody>
      </p:sp>
      <p:sp>
        <p:nvSpPr>
          <p:cNvPr id="71" name="Text 69"/>
          <p:cNvSpPr/>
          <p:nvPr/>
        </p:nvSpPr>
        <p:spPr>
          <a:xfrm>
            <a:off x="5029200" y="5330952"/>
            <a:ext cx="51508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</a:t>
            </a:r>
            <a:endParaRPr lang="en-US" sz="1050" dirty="0"/>
          </a:p>
        </p:txBody>
      </p:sp>
      <p:sp>
        <p:nvSpPr>
          <p:cNvPr id="72" name="Shape 70"/>
          <p:cNvSpPr/>
          <p:nvPr/>
        </p:nvSpPr>
        <p:spPr>
          <a:xfrm>
            <a:off x="10317175" y="5166360"/>
            <a:ext cx="745236" cy="274320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/>
        </p:spPr>
      </p:sp>
      <p:sp>
        <p:nvSpPr>
          <p:cNvPr id="73" name="Text 71"/>
          <p:cNvSpPr/>
          <p:nvPr/>
        </p:nvSpPr>
        <p:spPr>
          <a:xfrm>
            <a:off x="10317175" y="5166360"/>
            <a:ext cx="7452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Low</a:t>
            </a:r>
            <a:endParaRPr lang="en-US" sz="950" dirty="0"/>
          </a:p>
        </p:txBody>
      </p:sp>
      <p:sp>
        <p:nvSpPr>
          <p:cNvPr id="74" name="Text 72"/>
          <p:cNvSpPr/>
          <p:nvPr/>
        </p:nvSpPr>
        <p:spPr>
          <a:xfrm>
            <a:off x="640080" y="59893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Dependencies (what Bullet owes us) are tracked separately - they become risks only when a due date is missed.</a:t>
            </a:r>
            <a:endParaRPr lang="en-US" sz="1200" dirty="0"/>
          </a:p>
        </p:txBody>
      </p:sp>
      <p:sp>
        <p:nvSpPr>
          <p:cNvPr id="75" name="Text 73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Notch </a:t>
            </a:r>
            <a:pPr indent="0" marL="0">
              <a:buNone/>
            </a:pPr>
            <a:r>
              <a:rPr lang="en-US" sz="950" b="1" dirty="0">
                <a:solidFill>
                  <a:srgbClr val="F0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</a:t>
            </a:r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</a:t>
            </a:r>
            <a:endParaRPr lang="en-US" sz="950" dirty="0"/>
          </a:p>
        </p:txBody>
      </p:sp>
      <p:sp>
        <p:nvSpPr>
          <p:cNvPr id="76" name="Text 74"/>
          <p:cNvSpPr/>
          <p:nvPr/>
        </p:nvSpPr>
        <p:spPr>
          <a:xfrm>
            <a:off x="10911535" y="6400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402336" cy="402336"/>
          </a:xfrm>
          <a:prstGeom prst="roundRect">
            <a:avLst>
              <a:gd name="adj" fmla="val 15909"/>
            </a:avLst>
          </a:prstGeom>
          <a:solidFill>
            <a:srgbClr val="F06A2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70432" y="50292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KICKOFF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kickoff meeting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640080" y="2057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5029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&amp; sequencing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&amp; scope vs the Q1 2026 deadline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deployment model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 the critical decisions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&amp; discovery sign-off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three weeks &amp; owners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0080" y="4434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DECISIONS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475488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vs deadline (all 5 channels, or App?)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Build/buy boundary &amp; vendors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 ownership (recommend Bullet)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access model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126480" y="20574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QUESTIONS, BY PRIORITY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26480" y="2331720"/>
            <a:ext cx="1211580" cy="274320"/>
          </a:xfrm>
          <a:prstGeom prst="roundRect">
            <a:avLst>
              <a:gd name="adj" fmla="val 50000"/>
            </a:avLst>
          </a:prstGeom>
          <a:solidFill>
            <a:srgbClr val="FEF2F2"/>
          </a:solidFill>
          <a:ln/>
        </p:spPr>
      </p:sp>
      <p:sp>
        <p:nvSpPr>
          <p:cNvPr id="12" name="Text 10"/>
          <p:cNvSpPr/>
          <p:nvPr/>
        </p:nvSpPr>
        <p:spPr>
          <a:xfrm>
            <a:off x="6126480" y="2331720"/>
            <a:ext cx="12115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 · BLOCKING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172200" y="2679192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82512" y="26791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Q1 2026 deadline immovable - all 5 channels or just App?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172200" y="2907792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82512" y="29077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self-hosted - does any data leave?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172200" y="3136392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82512" y="3136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 documented (Swagger) and reachable?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172200" y="3364992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82512" y="33649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Bullet Owner (single coordination point)?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172200" y="3593592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82512" y="35935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scanning toolchain?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126480" y="3941064"/>
            <a:ext cx="900684" cy="274320"/>
          </a:xfrm>
          <a:prstGeom prst="roundRect">
            <a:avLst>
              <a:gd name="adj" fmla="val 50000"/>
            </a:avLst>
          </a:prstGeom>
          <a:solidFill>
            <a:srgbClr val="FFF7ED"/>
          </a:solidFill>
          <a:ln/>
        </p:spPr>
      </p:sp>
      <p:sp>
        <p:nvSpPr>
          <p:cNvPr id="24" name="Text 22"/>
          <p:cNvSpPr/>
          <p:nvPr/>
        </p:nvSpPr>
        <p:spPr>
          <a:xfrm>
            <a:off x="6126480" y="3941064"/>
            <a:ext cx="9006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· HIGH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172200" y="4288536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382512" y="428853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3rd-party tools does Bullet already run?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172200" y="4517136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382512" y="451713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tool - who owns the subscription?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172200" y="4745736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382512" y="474573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intents / volumes for the MVP?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172200" y="4974336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382512" y="497433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capacity for the self-hosted LLM?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126480" y="5321808"/>
            <a:ext cx="1522476" cy="274320"/>
          </a:xfrm>
          <a:prstGeom prst="roundRect">
            <a:avLst>
              <a:gd name="adj" fmla="val 50000"/>
            </a:avLst>
          </a:prstGeom>
          <a:solidFill>
            <a:srgbClr val="F3F4F6"/>
          </a:solidFill>
          <a:ln/>
        </p:spPr>
      </p:sp>
      <p:sp>
        <p:nvSpPr>
          <p:cNvPr id="34" name="Text 32"/>
          <p:cNvSpPr/>
          <p:nvPr/>
        </p:nvSpPr>
        <p:spPr>
          <a:xfrm>
            <a:off x="6126480" y="5321808"/>
            <a:ext cx="1522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· BEFORE PHASE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172200" y="566928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382512" y="56692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Swagger / API docs for Policy &amp; Claims endpoints?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6172200" y="589788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382512" y="5897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Pentest owner &amp; vendor?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6172200" y="612648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382512" y="61264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PVT feasible per channel?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Notch </a:t>
            </a:r>
            <a:pPr indent="0" marL="0">
              <a:buNone/>
            </a:pPr>
            <a:r>
              <a:rPr lang="en-US" sz="950" b="1" dirty="0">
                <a:solidFill>
                  <a:srgbClr val="F0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</a:t>
            </a:r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10911535" y="6400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15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06A22"/>
          </a:solidFill>
          <a:ln/>
        </p:spPr>
      </p:sp>
      <p:sp>
        <p:nvSpPr>
          <p:cNvPr id="3" name="Shape 1"/>
          <p:cNvSpPr/>
          <p:nvPr/>
        </p:nvSpPr>
        <p:spPr>
          <a:xfrm rot="2700000">
            <a:off x="10629900" y="1120140"/>
            <a:ext cx="502920" cy="502920"/>
          </a:xfrm>
          <a:prstGeom prst="rect">
            <a:avLst/>
          </a:prstGeom>
          <a:solidFill>
            <a:srgbClr val="F06A22"/>
          </a:solidFill>
          <a:ln/>
        </p:spPr>
      </p:sp>
      <p:sp>
        <p:nvSpPr>
          <p:cNvPr id="4" name="Shape 2"/>
          <p:cNvSpPr/>
          <p:nvPr/>
        </p:nvSpPr>
        <p:spPr>
          <a:xfrm rot="2700000">
            <a:off x="11292840" y="2057400"/>
            <a:ext cx="274320" cy="274320"/>
          </a:xfrm>
          <a:prstGeom prst="rect">
            <a:avLst/>
          </a:prstGeom>
          <a:solidFill>
            <a:srgbClr val="27384D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EB8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WINNING LOOKS LIKE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fast, recoverable, reusable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 rot="2700000">
            <a:off x="649224" y="2953512"/>
            <a:ext cx="219456" cy="219456"/>
          </a:xfrm>
          <a:prstGeom prst="rect">
            <a:avLst/>
          </a:prstGeom>
          <a:solidFill>
            <a:srgbClr val="F06A22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288036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live fast and safely</a:t>
            </a:r>
            <a:pPr indent="0" marL="0">
              <a:buNone/>
            </a:pPr>
            <a:r>
              <a:rPr lang="en-US" sz="1300" dirty="0">
                <a:solidFill>
                  <a:srgbClr val="CAD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the MVP recoverable behind a Glassix safety net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 rot="2700000">
            <a:off x="649224" y="3730752"/>
            <a:ext cx="219456" cy="219456"/>
          </a:xfrm>
          <a:prstGeom prst="rect">
            <a:avLst/>
          </a:prstGeom>
          <a:solidFill>
            <a:srgbClr val="F06A22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65760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live on its priority timeline</a:t>
            </a:r>
            <a:pPr indent="0" marL="0">
              <a:buNone/>
            </a:pPr>
            <a:r>
              <a:rPr lang="en-US" sz="1300" dirty="0">
                <a:solidFill>
                  <a:srgbClr val="CAD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by the end-of-Q1-2026 deadline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 rot="2700000">
            <a:off x="649224" y="4507992"/>
            <a:ext cx="219456" cy="219456"/>
          </a:xfrm>
          <a:prstGeom prst="rect">
            <a:avLst/>
          </a:prstGeom>
          <a:solidFill>
            <a:srgbClr val="F06A22"/>
          </a:solidFill>
          <a:ln/>
        </p:spPr>
      </p:sp>
      <p:sp>
        <p:nvSpPr>
          <p:cNvPr id="12" name="Text 10"/>
          <p:cNvSpPr/>
          <p:nvPr/>
        </p:nvSpPr>
        <p:spPr>
          <a:xfrm>
            <a:off x="1051560" y="443484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architecture proven reusable</a:t>
            </a:r>
            <a:pPr indent="0" marL="0">
              <a:buNone/>
            </a:pPr>
            <a:r>
              <a:rPr lang="en-US" sz="1300" dirty="0">
                <a:solidFill>
                  <a:srgbClr val="CAD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the next regulated customer inherits it, integration layer swapped not rebuilt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40080" y="5577840"/>
            <a:ext cx="10911535" cy="0"/>
          </a:xfrm>
          <a:prstGeom prst="line">
            <a:avLst/>
          </a:prstGeom>
          <a:noFill/>
          <a:ln w="12700">
            <a:solidFill>
              <a:srgbClr val="27384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57607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00" kern="0" dirty="0">
                <a:solidFill>
                  <a:srgbClr val="F0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 </a:t>
            </a:r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the pre-requisites this week  ·  lock the critical decisions at kickoff  ·  start the build on day one.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Notch x Bullet - Project Kickoff Plan</dc:title>
  <dc:subject>PptxGenJS Presentation</dc:subject>
  <dc:creator>Notch</dc:creator>
  <cp:lastModifiedBy>Notch</cp:lastModifiedBy>
  <cp:revision>1</cp:revision>
  <dcterms:created xsi:type="dcterms:W3CDTF">2026-06-22T12:44:20Z</dcterms:created>
  <dcterms:modified xsi:type="dcterms:W3CDTF">2026-06-22T12:44:20Z</dcterms:modified>
</cp:coreProperties>
</file>